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9906000" cy="6858000"/>
  <p:notesSz cx="6858000" cy="9144000"/>
  <p:embeddedFontLst>
    <p:embeddedFont>
      <p:font typeface="Open Sans Bold" charset="1" panose="00000000000000000000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  <p:embeddedFont>
      <p:font typeface="Roboto Bold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C:\Users\user\Desktop\Untitled.png"/>
          <p:cNvSpPr/>
          <p:nvPr/>
        </p:nvSpPr>
        <p:spPr>
          <a:xfrm flipH="false" flipV="false" rot="0">
            <a:off x="115570" y="701642"/>
            <a:ext cx="9608820" cy="6003958"/>
          </a:xfrm>
          <a:custGeom>
            <a:avLst/>
            <a:gdLst/>
            <a:ahLst/>
            <a:cxnLst/>
            <a:rect r="r" b="b" t="t" l="l"/>
            <a:pathLst>
              <a:path h="6003958" w="9608820">
                <a:moveTo>
                  <a:pt x="0" y="0"/>
                </a:moveTo>
                <a:lnTo>
                  <a:pt x="9608820" y="0"/>
                </a:lnTo>
                <a:lnTo>
                  <a:pt x="9608820" y="6003958"/>
                </a:lnTo>
                <a:lnTo>
                  <a:pt x="0" y="6003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" y="139700"/>
            <a:ext cx="9634220" cy="6638958"/>
            <a:chOff x="0" y="0"/>
            <a:chExt cx="12845627" cy="8851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45542" cy="8851900"/>
            </a:xfrm>
            <a:custGeom>
              <a:avLst/>
              <a:gdLst/>
              <a:ahLst/>
              <a:cxnLst/>
              <a:rect r="r" b="b" t="t" l="l"/>
              <a:pathLst>
                <a:path h="8851900" w="12845542">
                  <a:moveTo>
                    <a:pt x="16891" y="0"/>
                  </a:moveTo>
                  <a:lnTo>
                    <a:pt x="12828651" y="0"/>
                  </a:lnTo>
                  <a:cubicBezTo>
                    <a:pt x="12838049" y="0"/>
                    <a:pt x="12845542" y="7620"/>
                    <a:pt x="12845542" y="16891"/>
                  </a:cubicBezTo>
                  <a:lnTo>
                    <a:pt x="12845542" y="8835009"/>
                  </a:lnTo>
                  <a:cubicBezTo>
                    <a:pt x="12845542" y="8844407"/>
                    <a:pt x="12837922" y="8851900"/>
                    <a:pt x="12828651" y="8851900"/>
                  </a:cubicBezTo>
                  <a:lnTo>
                    <a:pt x="16891" y="8851900"/>
                  </a:lnTo>
                  <a:cubicBezTo>
                    <a:pt x="7620" y="8851900"/>
                    <a:pt x="0" y="8844407"/>
                    <a:pt x="0" y="883500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35009"/>
                  </a:lnTo>
                  <a:lnTo>
                    <a:pt x="16891" y="8835009"/>
                  </a:lnTo>
                  <a:lnTo>
                    <a:pt x="16891" y="8818118"/>
                  </a:lnTo>
                  <a:lnTo>
                    <a:pt x="12828651" y="8818118"/>
                  </a:lnTo>
                  <a:lnTo>
                    <a:pt x="12828651" y="8835009"/>
                  </a:lnTo>
                  <a:lnTo>
                    <a:pt x="12811760" y="8835009"/>
                  </a:lnTo>
                  <a:lnTo>
                    <a:pt x="12811760" y="16891"/>
                  </a:lnTo>
                  <a:lnTo>
                    <a:pt x="12828651" y="16891"/>
                  </a:lnTo>
                  <a:lnTo>
                    <a:pt x="1282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01E38"/>
            </a:solidFill>
          </p:spPr>
        </p:sp>
      </p:grpSp>
      <p:sp>
        <p:nvSpPr>
          <p:cNvPr name="Freeform 5" id="5" descr="C:\Users\Suma\Downloads\logo_for office use (1)_page-0001.jpg"/>
          <p:cNvSpPr/>
          <p:nvPr/>
        </p:nvSpPr>
        <p:spPr>
          <a:xfrm flipH="false" flipV="false" rot="0">
            <a:off x="8585200" y="175896"/>
            <a:ext cx="1079416" cy="890905"/>
          </a:xfrm>
          <a:custGeom>
            <a:avLst/>
            <a:gdLst/>
            <a:ahLst/>
            <a:cxnLst/>
            <a:rect r="r" b="b" t="t" l="l"/>
            <a:pathLst>
              <a:path h="890905" w="1079416">
                <a:moveTo>
                  <a:pt x="0" y="0"/>
                </a:moveTo>
                <a:lnTo>
                  <a:pt x="1079416" y="0"/>
                </a:lnTo>
                <a:lnTo>
                  <a:pt x="1079416" y="890905"/>
                </a:lnTo>
                <a:lnTo>
                  <a:pt x="0" y="890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474" b="0"/>
            </a:stretch>
          </a:blipFill>
        </p:spPr>
      </p:sp>
      <p:sp>
        <p:nvSpPr>
          <p:cNvPr name="Freeform 6" id="6" descr="C:\Users\Suma\Downloads\logo_for office use (1)_page-0001.jpg"/>
          <p:cNvSpPr/>
          <p:nvPr/>
        </p:nvSpPr>
        <p:spPr>
          <a:xfrm flipH="false" flipV="false" rot="0">
            <a:off x="8585200" y="175896"/>
            <a:ext cx="1079416" cy="890905"/>
          </a:xfrm>
          <a:custGeom>
            <a:avLst/>
            <a:gdLst/>
            <a:ahLst/>
            <a:cxnLst/>
            <a:rect r="r" b="b" t="t" l="l"/>
            <a:pathLst>
              <a:path h="890905" w="1079416">
                <a:moveTo>
                  <a:pt x="0" y="0"/>
                </a:moveTo>
                <a:lnTo>
                  <a:pt x="1079416" y="0"/>
                </a:lnTo>
                <a:lnTo>
                  <a:pt x="1079416" y="890905"/>
                </a:lnTo>
                <a:lnTo>
                  <a:pt x="0" y="890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474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308468" y="5966227"/>
            <a:ext cx="3223025" cy="411946"/>
            <a:chOff x="0" y="0"/>
            <a:chExt cx="4297366" cy="5492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97366" cy="549261"/>
            </a:xfrm>
            <a:custGeom>
              <a:avLst/>
              <a:gdLst/>
              <a:ahLst/>
              <a:cxnLst/>
              <a:rect r="r" b="b" t="t" l="l"/>
              <a:pathLst>
                <a:path h="549261" w="4297366">
                  <a:moveTo>
                    <a:pt x="0" y="0"/>
                  </a:moveTo>
                  <a:lnTo>
                    <a:pt x="4297366" y="0"/>
                  </a:lnTo>
                  <a:lnTo>
                    <a:pt x="4297366" y="549261"/>
                  </a:lnTo>
                  <a:lnTo>
                    <a:pt x="0" y="5492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297366" cy="55878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33C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Date:20/02/2025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11164" y="2479910"/>
            <a:ext cx="6283672" cy="97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4"/>
              </a:lnSpc>
            </a:pPr>
            <a:r>
              <a:rPr lang="en-US" sz="5696" b="true">
                <a:solidFill>
                  <a:srgbClr val="701E3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0234" y="3485253"/>
            <a:ext cx="1501455" cy="38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5"/>
              </a:lnSpc>
            </a:pPr>
            <a:r>
              <a:rPr lang="en-US" sz="2218" b="true">
                <a:solidFill>
                  <a:srgbClr val="701E3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no: 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40234" y="3982639"/>
            <a:ext cx="17933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33CC"/>
                </a:solidFill>
                <a:latin typeface="Canva Sans"/>
                <a:ea typeface="Canva Sans"/>
                <a:cs typeface="Canva Sans"/>
                <a:sym typeface="Canva Sans"/>
              </a:rPr>
              <a:t>Akshaykumar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1164" y="4393484"/>
            <a:ext cx="216924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33CC"/>
                </a:solidFill>
                <a:latin typeface="Canva Sans"/>
                <a:ea typeface="Canva Sans"/>
                <a:cs typeface="Canva Sans"/>
                <a:sym typeface="Canva Sans"/>
              </a:rPr>
              <a:t>Annson D Souza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1164" y="4804329"/>
            <a:ext cx="188505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33CC"/>
                </a:solidFill>
                <a:latin typeface="Canva Sans"/>
                <a:ea typeface="Canva Sans"/>
                <a:cs typeface="Canva Sans"/>
                <a:sym typeface="Canva Sans"/>
              </a:rPr>
              <a:t>Dhanush Shet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11164" y="5215174"/>
            <a:ext cx="250626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33CC"/>
                </a:solidFill>
                <a:latin typeface="Canva Sans"/>
                <a:ea typeface="Canva Sans"/>
                <a:cs typeface="Canva Sans"/>
                <a:sym typeface="Canva Sans"/>
              </a:rPr>
              <a:t>Justin Adam Aroza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C:\Users\user\Desktop\Untitled.png"/>
          <p:cNvSpPr/>
          <p:nvPr/>
        </p:nvSpPr>
        <p:spPr>
          <a:xfrm flipH="false" flipV="false" rot="0">
            <a:off x="115570" y="701642"/>
            <a:ext cx="9608820" cy="6003958"/>
          </a:xfrm>
          <a:custGeom>
            <a:avLst/>
            <a:gdLst/>
            <a:ahLst/>
            <a:cxnLst/>
            <a:rect r="r" b="b" t="t" l="l"/>
            <a:pathLst>
              <a:path h="6003958" w="9608820">
                <a:moveTo>
                  <a:pt x="0" y="0"/>
                </a:moveTo>
                <a:lnTo>
                  <a:pt x="9608820" y="0"/>
                </a:lnTo>
                <a:lnTo>
                  <a:pt x="9608820" y="6003958"/>
                </a:lnTo>
                <a:lnTo>
                  <a:pt x="0" y="6003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" y="139700"/>
            <a:ext cx="9634220" cy="6638958"/>
            <a:chOff x="0" y="0"/>
            <a:chExt cx="12845627" cy="8851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45542" cy="8851900"/>
            </a:xfrm>
            <a:custGeom>
              <a:avLst/>
              <a:gdLst/>
              <a:ahLst/>
              <a:cxnLst/>
              <a:rect r="r" b="b" t="t" l="l"/>
              <a:pathLst>
                <a:path h="8851900" w="12845542">
                  <a:moveTo>
                    <a:pt x="16891" y="0"/>
                  </a:moveTo>
                  <a:lnTo>
                    <a:pt x="12828651" y="0"/>
                  </a:lnTo>
                  <a:cubicBezTo>
                    <a:pt x="12838049" y="0"/>
                    <a:pt x="12845542" y="7620"/>
                    <a:pt x="12845542" y="16891"/>
                  </a:cubicBezTo>
                  <a:lnTo>
                    <a:pt x="12845542" y="8835009"/>
                  </a:lnTo>
                  <a:cubicBezTo>
                    <a:pt x="12845542" y="8844407"/>
                    <a:pt x="12837922" y="8851900"/>
                    <a:pt x="12828651" y="8851900"/>
                  </a:cubicBezTo>
                  <a:lnTo>
                    <a:pt x="16891" y="8851900"/>
                  </a:lnTo>
                  <a:cubicBezTo>
                    <a:pt x="7620" y="8851900"/>
                    <a:pt x="0" y="8844407"/>
                    <a:pt x="0" y="883500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35009"/>
                  </a:lnTo>
                  <a:lnTo>
                    <a:pt x="16891" y="8835009"/>
                  </a:lnTo>
                  <a:lnTo>
                    <a:pt x="16891" y="8818118"/>
                  </a:lnTo>
                  <a:lnTo>
                    <a:pt x="12828651" y="8818118"/>
                  </a:lnTo>
                  <a:lnTo>
                    <a:pt x="12828651" y="8835009"/>
                  </a:lnTo>
                  <a:lnTo>
                    <a:pt x="12811760" y="8835009"/>
                  </a:lnTo>
                  <a:lnTo>
                    <a:pt x="12811760" y="16891"/>
                  </a:lnTo>
                  <a:lnTo>
                    <a:pt x="12828651" y="16891"/>
                  </a:lnTo>
                  <a:lnTo>
                    <a:pt x="1282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01E38"/>
            </a:solidFill>
          </p:spPr>
        </p:sp>
      </p:grpSp>
      <p:sp>
        <p:nvSpPr>
          <p:cNvPr name="Freeform 5" id="5" descr="C:\Users\Suma\Downloads\logo_for office use (1)_page-0001.jpg"/>
          <p:cNvSpPr/>
          <p:nvPr/>
        </p:nvSpPr>
        <p:spPr>
          <a:xfrm flipH="false" flipV="false" rot="0">
            <a:off x="8585200" y="175896"/>
            <a:ext cx="1079416" cy="890905"/>
          </a:xfrm>
          <a:custGeom>
            <a:avLst/>
            <a:gdLst/>
            <a:ahLst/>
            <a:cxnLst/>
            <a:rect r="r" b="b" t="t" l="l"/>
            <a:pathLst>
              <a:path h="890905" w="1079416">
                <a:moveTo>
                  <a:pt x="0" y="0"/>
                </a:moveTo>
                <a:lnTo>
                  <a:pt x="1079416" y="0"/>
                </a:lnTo>
                <a:lnTo>
                  <a:pt x="1079416" y="890905"/>
                </a:lnTo>
                <a:lnTo>
                  <a:pt x="0" y="890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47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3705" y="281047"/>
            <a:ext cx="68725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  <a:spcBef>
                <a:spcPct val="0"/>
              </a:spcBef>
            </a:pPr>
            <a:r>
              <a:rPr lang="en-US" b="true" sz="328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Overcoming Research Limitations in a 7B Model through Fine-Tuning and Retrieval-Augmented Generation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5247" y="2419911"/>
            <a:ext cx="8829465" cy="35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99185" indent="-199593" lvl="1">
              <a:lnSpc>
                <a:spcPts val="2588"/>
              </a:lnSpc>
              <a:buFont typeface="Arial"/>
              <a:buChar char="•"/>
            </a:pPr>
            <a:r>
              <a:rPr lang="en-US" b="true" sz="184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</a:t>
            </a:r>
            <a:r>
              <a:rPr lang="en-US" b="true" sz="184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dard 7B parameter language models struggle with deep research tasks due to limited domain-specific knowledge, weak reasoning capabilities, and lack of up-to-date information.</a:t>
            </a:r>
          </a:p>
          <a:p>
            <a:pPr algn="ctr" marL="399185" indent="-199593" lvl="1">
              <a:lnSpc>
                <a:spcPts val="2588"/>
              </a:lnSpc>
              <a:buFont typeface="Arial"/>
              <a:buChar char="•"/>
            </a:pPr>
            <a:r>
              <a:rPr lang="en-US" b="true" sz="184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project enhances a 7B model by fine-tuning it on high-quality research datasets, incorporating chain-of-thought reasoning, and integrating a retrieval-augmented generation (RAG) system for real-time access to external knowledge.</a:t>
            </a:r>
          </a:p>
          <a:p>
            <a:pPr algn="ctr" marL="399185" indent="-199593" lvl="1">
              <a:lnSpc>
                <a:spcPts val="2588"/>
              </a:lnSpc>
              <a:buFont typeface="Arial"/>
              <a:buChar char="•"/>
            </a:pPr>
            <a:r>
              <a:rPr lang="en-US" b="true" sz="184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goal is to improve the model’s ability to generate precise, context-aware, and well-reasoned responses for advanced research applications.</a:t>
            </a:r>
          </a:p>
          <a:p>
            <a:pPr algn="ctr">
              <a:lnSpc>
                <a:spcPts val="2588"/>
              </a:lnSpc>
            </a:pPr>
          </a:p>
          <a:p>
            <a:pPr algn="ctr">
              <a:lnSpc>
                <a:spcPts val="2588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308468" y="5966227"/>
            <a:ext cx="3223025" cy="411946"/>
            <a:chOff x="0" y="0"/>
            <a:chExt cx="4297366" cy="549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7366" cy="549261"/>
            </a:xfrm>
            <a:custGeom>
              <a:avLst/>
              <a:gdLst/>
              <a:ahLst/>
              <a:cxnLst/>
              <a:rect r="r" b="b" t="t" l="l"/>
              <a:pathLst>
                <a:path h="549261" w="4297366">
                  <a:moveTo>
                    <a:pt x="0" y="0"/>
                  </a:moveTo>
                  <a:lnTo>
                    <a:pt x="4297366" y="0"/>
                  </a:lnTo>
                  <a:lnTo>
                    <a:pt x="4297366" y="549261"/>
                  </a:lnTo>
                  <a:lnTo>
                    <a:pt x="0" y="5492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297366" cy="55878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33C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C:\Users\user\Desktop\Untitled.png"/>
          <p:cNvSpPr/>
          <p:nvPr/>
        </p:nvSpPr>
        <p:spPr>
          <a:xfrm flipH="false" flipV="false" rot="0">
            <a:off x="115570" y="701642"/>
            <a:ext cx="9608820" cy="6003958"/>
          </a:xfrm>
          <a:custGeom>
            <a:avLst/>
            <a:gdLst/>
            <a:ahLst/>
            <a:cxnLst/>
            <a:rect r="r" b="b" t="t" l="l"/>
            <a:pathLst>
              <a:path h="6003958" w="9608820">
                <a:moveTo>
                  <a:pt x="0" y="0"/>
                </a:moveTo>
                <a:lnTo>
                  <a:pt x="9608820" y="0"/>
                </a:lnTo>
                <a:lnTo>
                  <a:pt x="9608820" y="6003958"/>
                </a:lnTo>
                <a:lnTo>
                  <a:pt x="0" y="6003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" y="139700"/>
            <a:ext cx="9634220" cy="6638958"/>
            <a:chOff x="0" y="0"/>
            <a:chExt cx="12845627" cy="8851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45542" cy="8851900"/>
            </a:xfrm>
            <a:custGeom>
              <a:avLst/>
              <a:gdLst/>
              <a:ahLst/>
              <a:cxnLst/>
              <a:rect r="r" b="b" t="t" l="l"/>
              <a:pathLst>
                <a:path h="8851900" w="12845542">
                  <a:moveTo>
                    <a:pt x="16891" y="0"/>
                  </a:moveTo>
                  <a:lnTo>
                    <a:pt x="12828651" y="0"/>
                  </a:lnTo>
                  <a:cubicBezTo>
                    <a:pt x="12838049" y="0"/>
                    <a:pt x="12845542" y="7620"/>
                    <a:pt x="12845542" y="16891"/>
                  </a:cubicBezTo>
                  <a:lnTo>
                    <a:pt x="12845542" y="8835009"/>
                  </a:lnTo>
                  <a:cubicBezTo>
                    <a:pt x="12845542" y="8844407"/>
                    <a:pt x="12837922" y="8851900"/>
                    <a:pt x="12828651" y="8851900"/>
                  </a:cubicBezTo>
                  <a:lnTo>
                    <a:pt x="16891" y="8851900"/>
                  </a:lnTo>
                  <a:cubicBezTo>
                    <a:pt x="7620" y="8851900"/>
                    <a:pt x="0" y="8844407"/>
                    <a:pt x="0" y="883500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35009"/>
                  </a:lnTo>
                  <a:lnTo>
                    <a:pt x="16891" y="8835009"/>
                  </a:lnTo>
                  <a:lnTo>
                    <a:pt x="16891" y="8818118"/>
                  </a:lnTo>
                  <a:lnTo>
                    <a:pt x="12828651" y="8818118"/>
                  </a:lnTo>
                  <a:lnTo>
                    <a:pt x="12828651" y="8835009"/>
                  </a:lnTo>
                  <a:lnTo>
                    <a:pt x="12811760" y="8835009"/>
                  </a:lnTo>
                  <a:lnTo>
                    <a:pt x="12811760" y="16891"/>
                  </a:lnTo>
                  <a:lnTo>
                    <a:pt x="12828651" y="16891"/>
                  </a:lnTo>
                  <a:lnTo>
                    <a:pt x="1282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01E38"/>
            </a:solidFill>
          </p:spPr>
        </p:sp>
      </p:grpSp>
      <p:sp>
        <p:nvSpPr>
          <p:cNvPr name="Freeform 5" id="5" descr="C:\Users\Suma\Downloads\logo_for office use (1)_page-0001.jpg"/>
          <p:cNvSpPr/>
          <p:nvPr/>
        </p:nvSpPr>
        <p:spPr>
          <a:xfrm flipH="false" flipV="false" rot="0">
            <a:off x="8585200" y="175896"/>
            <a:ext cx="1079416" cy="890905"/>
          </a:xfrm>
          <a:custGeom>
            <a:avLst/>
            <a:gdLst/>
            <a:ahLst/>
            <a:cxnLst/>
            <a:rect r="r" b="b" t="t" l="l"/>
            <a:pathLst>
              <a:path h="890905" w="1079416">
                <a:moveTo>
                  <a:pt x="0" y="0"/>
                </a:moveTo>
                <a:lnTo>
                  <a:pt x="1079416" y="0"/>
                </a:lnTo>
                <a:lnTo>
                  <a:pt x="1079416" y="890905"/>
                </a:lnTo>
                <a:lnTo>
                  <a:pt x="0" y="890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47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2296" y="263394"/>
            <a:ext cx="7842904" cy="180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  <a:spcBef>
                <a:spcPct val="0"/>
              </a:spcBef>
            </a:pPr>
            <a:r>
              <a:rPr lang="en-US" b="true" sz="296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Reinforcement Learning-Guided Adaptive Compression: Optimizing Auto-encoder Video and Image Compression for Efficient Bandwidth Utilization"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3740" y="2278691"/>
            <a:ext cx="8838521" cy="35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64698" indent="-182349" lvl="1">
              <a:lnSpc>
                <a:spcPts val="2364"/>
              </a:lnSpc>
              <a:buFont typeface="Arial"/>
              <a:buChar char="•"/>
            </a:pPr>
            <a:r>
              <a:rPr lang="en-US" b="true" sz="16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Efficient video and image compression is crucial for bandwidth-constrained environments. Traditional methods use fixed heuristics, leading to inefficiencies in dynamic scenarios. Reinforcement learning (RL) offers a way to adapt compression settings in real time.</a:t>
            </a:r>
          </a:p>
          <a:p>
            <a:pPr algn="ctr" marL="364698" indent="-182349" lvl="1">
              <a:lnSpc>
                <a:spcPts val="2364"/>
              </a:lnSpc>
              <a:buFont typeface="Arial"/>
              <a:buChar char="•"/>
            </a:pPr>
            <a:r>
              <a:rPr lang="en-US" b="true" sz="16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research integrates RL with autoencoder-based compression to optimize bitrate, resolution, and quality dynamically. The RL agent learns an optimal trade-off using a reward function based on reconstruction fidelity and efficiency.</a:t>
            </a:r>
          </a:p>
          <a:p>
            <a:pPr algn="ctr" marL="364698" indent="-182349" lvl="1">
              <a:lnSpc>
                <a:spcPts val="2364"/>
              </a:lnSpc>
              <a:buFont typeface="Arial"/>
              <a:buChar char="•"/>
            </a:pPr>
            <a:r>
              <a:rPr lang="en-US" b="true" sz="16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proposed framework adapts to varying content, improving storage and transmission while maintaining high visual quality. Experiments on benchmark datasets show superior performance over traditional compression methods.</a:t>
            </a:r>
          </a:p>
          <a:p>
            <a:pPr algn="ctr">
              <a:lnSpc>
                <a:spcPts val="236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308468" y="5966227"/>
            <a:ext cx="3223025" cy="411946"/>
            <a:chOff x="0" y="0"/>
            <a:chExt cx="4297366" cy="549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7366" cy="549261"/>
            </a:xfrm>
            <a:custGeom>
              <a:avLst/>
              <a:gdLst/>
              <a:ahLst/>
              <a:cxnLst/>
              <a:rect r="r" b="b" t="t" l="l"/>
              <a:pathLst>
                <a:path h="549261" w="4297366">
                  <a:moveTo>
                    <a:pt x="0" y="0"/>
                  </a:moveTo>
                  <a:lnTo>
                    <a:pt x="4297366" y="0"/>
                  </a:lnTo>
                  <a:lnTo>
                    <a:pt x="4297366" y="549261"/>
                  </a:lnTo>
                  <a:lnTo>
                    <a:pt x="0" y="5492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297366" cy="55878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33C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C:\Users\user\Desktop\Untitled.png"/>
          <p:cNvSpPr/>
          <p:nvPr/>
        </p:nvSpPr>
        <p:spPr>
          <a:xfrm flipH="false" flipV="false" rot="0">
            <a:off x="115570" y="701642"/>
            <a:ext cx="9608820" cy="6003958"/>
          </a:xfrm>
          <a:custGeom>
            <a:avLst/>
            <a:gdLst/>
            <a:ahLst/>
            <a:cxnLst/>
            <a:rect r="r" b="b" t="t" l="l"/>
            <a:pathLst>
              <a:path h="6003958" w="9608820">
                <a:moveTo>
                  <a:pt x="0" y="0"/>
                </a:moveTo>
                <a:lnTo>
                  <a:pt x="9608820" y="0"/>
                </a:lnTo>
                <a:lnTo>
                  <a:pt x="9608820" y="6003958"/>
                </a:lnTo>
                <a:lnTo>
                  <a:pt x="0" y="6003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" y="139700"/>
            <a:ext cx="9634220" cy="6638958"/>
            <a:chOff x="0" y="0"/>
            <a:chExt cx="12845627" cy="8851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45542" cy="8851900"/>
            </a:xfrm>
            <a:custGeom>
              <a:avLst/>
              <a:gdLst/>
              <a:ahLst/>
              <a:cxnLst/>
              <a:rect r="r" b="b" t="t" l="l"/>
              <a:pathLst>
                <a:path h="8851900" w="12845542">
                  <a:moveTo>
                    <a:pt x="16891" y="0"/>
                  </a:moveTo>
                  <a:lnTo>
                    <a:pt x="12828651" y="0"/>
                  </a:lnTo>
                  <a:cubicBezTo>
                    <a:pt x="12838049" y="0"/>
                    <a:pt x="12845542" y="7620"/>
                    <a:pt x="12845542" y="16891"/>
                  </a:cubicBezTo>
                  <a:lnTo>
                    <a:pt x="12845542" y="8835009"/>
                  </a:lnTo>
                  <a:cubicBezTo>
                    <a:pt x="12845542" y="8844407"/>
                    <a:pt x="12837922" y="8851900"/>
                    <a:pt x="12828651" y="8851900"/>
                  </a:cubicBezTo>
                  <a:lnTo>
                    <a:pt x="16891" y="8851900"/>
                  </a:lnTo>
                  <a:cubicBezTo>
                    <a:pt x="7620" y="8851900"/>
                    <a:pt x="0" y="8844407"/>
                    <a:pt x="0" y="883500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35009"/>
                  </a:lnTo>
                  <a:lnTo>
                    <a:pt x="16891" y="8835009"/>
                  </a:lnTo>
                  <a:lnTo>
                    <a:pt x="16891" y="8818118"/>
                  </a:lnTo>
                  <a:lnTo>
                    <a:pt x="12828651" y="8818118"/>
                  </a:lnTo>
                  <a:lnTo>
                    <a:pt x="12828651" y="8835009"/>
                  </a:lnTo>
                  <a:lnTo>
                    <a:pt x="12811760" y="8835009"/>
                  </a:lnTo>
                  <a:lnTo>
                    <a:pt x="12811760" y="16891"/>
                  </a:lnTo>
                  <a:lnTo>
                    <a:pt x="12828651" y="16891"/>
                  </a:lnTo>
                  <a:lnTo>
                    <a:pt x="1282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01E38"/>
            </a:solidFill>
          </p:spPr>
        </p:sp>
      </p:grpSp>
      <p:sp>
        <p:nvSpPr>
          <p:cNvPr name="Freeform 5" id="5" descr="C:\Users\Suma\Downloads\logo_for office use (1)_page-0001.jpg"/>
          <p:cNvSpPr/>
          <p:nvPr/>
        </p:nvSpPr>
        <p:spPr>
          <a:xfrm flipH="false" flipV="false" rot="0">
            <a:off x="8585200" y="175896"/>
            <a:ext cx="1079416" cy="890905"/>
          </a:xfrm>
          <a:custGeom>
            <a:avLst/>
            <a:gdLst/>
            <a:ahLst/>
            <a:cxnLst/>
            <a:rect r="r" b="b" t="t" l="l"/>
            <a:pathLst>
              <a:path h="890905" w="1079416">
                <a:moveTo>
                  <a:pt x="0" y="0"/>
                </a:moveTo>
                <a:lnTo>
                  <a:pt x="1079416" y="0"/>
                </a:lnTo>
                <a:lnTo>
                  <a:pt x="1079416" y="890905"/>
                </a:lnTo>
                <a:lnTo>
                  <a:pt x="0" y="890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47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2296" y="263394"/>
            <a:ext cx="7842904" cy="135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  <a:spcBef>
                <a:spcPct val="0"/>
              </a:spcBef>
            </a:pPr>
            <a:r>
              <a:rPr lang="en-US" b="true" sz="296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Efficient CNNs with Compressive Sensing: Reducing Computational Overhead for High-Dimensional Feature Extraction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785" y="1857724"/>
            <a:ext cx="8832475" cy="431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54687" indent="-177343" lvl="1">
              <a:lnSpc>
                <a:spcPts val="2299"/>
              </a:lnSpc>
              <a:buFont typeface="Arial"/>
              <a:buChar char="•"/>
            </a:pPr>
            <a:r>
              <a:rPr lang="en-US" b="true" sz="164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learning models, particularly CNNs, require extensive computations for high-dimensional feature extraction, limiting their efficiency in resource-constrained environments. Traditional convolutional operations process large amounts of redundant information, leading to inefficiencies in both speed and memory usage.</a:t>
            </a:r>
          </a:p>
          <a:p>
            <a:pPr algn="ctr" marL="354687" indent="-177343" lvl="1">
              <a:lnSpc>
                <a:spcPts val="2299"/>
              </a:lnSpc>
              <a:buFont typeface="Arial"/>
              <a:buChar char="•"/>
            </a:pPr>
            <a:r>
              <a:rPr lang="en-US" b="true" sz="164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research integrates compressive sensing techniques into CNN architectures to reduce computational complexity while preserving essential feature representations. By leveraging sparse signal recovery, the model reconstructs high-dimensional features using fewer convolutional operations, significantly reducing processing overhead.</a:t>
            </a:r>
          </a:p>
          <a:p>
            <a:pPr algn="ctr" marL="354687" indent="-177343" lvl="1">
              <a:lnSpc>
                <a:spcPts val="2299"/>
              </a:lnSpc>
              <a:buFont typeface="Arial"/>
              <a:buChar char="•"/>
            </a:pPr>
            <a:r>
              <a:rPr lang="en-US" b="true" sz="164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proposed framework enhances computational efficiency without compromising accuracy, making CNNs more suitable for edge AI and real-time applications. Experimental results on benchmark datasets demonstrate improved performance in terms of speed, memory efficiency, and recognition accuracy compared to conventional CNNs.</a:t>
            </a:r>
          </a:p>
          <a:p>
            <a:pPr algn="ctr">
              <a:lnSpc>
                <a:spcPts val="229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308468" y="6072143"/>
            <a:ext cx="3223025" cy="411946"/>
            <a:chOff x="0" y="0"/>
            <a:chExt cx="4297366" cy="549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97366" cy="549261"/>
            </a:xfrm>
            <a:custGeom>
              <a:avLst/>
              <a:gdLst/>
              <a:ahLst/>
              <a:cxnLst/>
              <a:rect r="r" b="b" t="t" l="l"/>
              <a:pathLst>
                <a:path h="549261" w="4297366">
                  <a:moveTo>
                    <a:pt x="0" y="0"/>
                  </a:moveTo>
                  <a:lnTo>
                    <a:pt x="4297366" y="0"/>
                  </a:lnTo>
                  <a:lnTo>
                    <a:pt x="4297366" y="549261"/>
                  </a:lnTo>
                  <a:lnTo>
                    <a:pt x="0" y="5492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297366" cy="55878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33C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C:\Users\user\Desktop\Untitled.png"/>
          <p:cNvSpPr/>
          <p:nvPr/>
        </p:nvSpPr>
        <p:spPr>
          <a:xfrm flipH="false" flipV="false" rot="0">
            <a:off x="115570" y="701642"/>
            <a:ext cx="9608820" cy="6003958"/>
          </a:xfrm>
          <a:custGeom>
            <a:avLst/>
            <a:gdLst/>
            <a:ahLst/>
            <a:cxnLst/>
            <a:rect r="r" b="b" t="t" l="l"/>
            <a:pathLst>
              <a:path h="6003958" w="9608820">
                <a:moveTo>
                  <a:pt x="0" y="0"/>
                </a:moveTo>
                <a:lnTo>
                  <a:pt x="9608820" y="0"/>
                </a:lnTo>
                <a:lnTo>
                  <a:pt x="9608820" y="6003958"/>
                </a:lnTo>
                <a:lnTo>
                  <a:pt x="0" y="6003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" y="139700"/>
            <a:ext cx="9634220" cy="6638958"/>
            <a:chOff x="0" y="0"/>
            <a:chExt cx="12845627" cy="8851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45542" cy="8851900"/>
            </a:xfrm>
            <a:custGeom>
              <a:avLst/>
              <a:gdLst/>
              <a:ahLst/>
              <a:cxnLst/>
              <a:rect r="r" b="b" t="t" l="l"/>
              <a:pathLst>
                <a:path h="8851900" w="12845542">
                  <a:moveTo>
                    <a:pt x="16891" y="0"/>
                  </a:moveTo>
                  <a:lnTo>
                    <a:pt x="12828651" y="0"/>
                  </a:lnTo>
                  <a:cubicBezTo>
                    <a:pt x="12838049" y="0"/>
                    <a:pt x="12845542" y="7620"/>
                    <a:pt x="12845542" y="16891"/>
                  </a:cubicBezTo>
                  <a:lnTo>
                    <a:pt x="12845542" y="8835009"/>
                  </a:lnTo>
                  <a:cubicBezTo>
                    <a:pt x="12845542" y="8844407"/>
                    <a:pt x="12837922" y="8851900"/>
                    <a:pt x="12828651" y="8851900"/>
                  </a:cubicBezTo>
                  <a:lnTo>
                    <a:pt x="16891" y="8851900"/>
                  </a:lnTo>
                  <a:cubicBezTo>
                    <a:pt x="7620" y="8851900"/>
                    <a:pt x="0" y="8844407"/>
                    <a:pt x="0" y="883500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35009"/>
                  </a:lnTo>
                  <a:lnTo>
                    <a:pt x="16891" y="8835009"/>
                  </a:lnTo>
                  <a:lnTo>
                    <a:pt x="16891" y="8818118"/>
                  </a:lnTo>
                  <a:lnTo>
                    <a:pt x="12828651" y="8818118"/>
                  </a:lnTo>
                  <a:lnTo>
                    <a:pt x="12828651" y="8835009"/>
                  </a:lnTo>
                  <a:lnTo>
                    <a:pt x="12811760" y="8835009"/>
                  </a:lnTo>
                  <a:lnTo>
                    <a:pt x="12811760" y="16891"/>
                  </a:lnTo>
                  <a:lnTo>
                    <a:pt x="12828651" y="16891"/>
                  </a:lnTo>
                  <a:lnTo>
                    <a:pt x="1282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01E38"/>
            </a:solidFill>
          </p:spPr>
        </p:sp>
      </p:grpSp>
      <p:sp>
        <p:nvSpPr>
          <p:cNvPr name="Freeform 5" id="5" descr="C:\Users\Suma\Downloads\logo_for office use (1)_page-0001.jpg"/>
          <p:cNvSpPr/>
          <p:nvPr/>
        </p:nvSpPr>
        <p:spPr>
          <a:xfrm flipH="false" flipV="false" rot="0">
            <a:off x="8585200" y="175896"/>
            <a:ext cx="1079416" cy="890905"/>
          </a:xfrm>
          <a:custGeom>
            <a:avLst/>
            <a:gdLst/>
            <a:ahLst/>
            <a:cxnLst/>
            <a:rect r="r" b="b" t="t" l="l"/>
            <a:pathLst>
              <a:path h="890905" w="1079416">
                <a:moveTo>
                  <a:pt x="0" y="0"/>
                </a:moveTo>
                <a:lnTo>
                  <a:pt x="1079416" y="0"/>
                </a:lnTo>
                <a:lnTo>
                  <a:pt x="1079416" y="890905"/>
                </a:lnTo>
                <a:lnTo>
                  <a:pt x="0" y="890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474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43944" y="2731740"/>
            <a:ext cx="5218113" cy="1394520"/>
            <a:chOff x="0" y="0"/>
            <a:chExt cx="6957484" cy="18593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57484" cy="1859359"/>
            </a:xfrm>
            <a:custGeom>
              <a:avLst/>
              <a:gdLst/>
              <a:ahLst/>
              <a:cxnLst/>
              <a:rect r="r" b="b" t="t" l="l"/>
              <a:pathLst>
                <a:path h="1859359" w="6957484">
                  <a:moveTo>
                    <a:pt x="0" y="0"/>
                  </a:moveTo>
                  <a:lnTo>
                    <a:pt x="6957484" y="0"/>
                  </a:lnTo>
                  <a:lnTo>
                    <a:pt x="6957484" y="1859359"/>
                  </a:lnTo>
                  <a:lnTo>
                    <a:pt x="0" y="1859359"/>
                  </a:lnTo>
                  <a:close/>
                </a:path>
              </a:pathLst>
            </a:custGeom>
            <a:solidFill>
              <a:srgbClr val="701E38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6957484" cy="186888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701E3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DAGfkWjmVwU</dc:identifier>
  <dcterms:modified xsi:type="dcterms:W3CDTF">2011-08-01T06:04:30Z</dcterms:modified>
  <cp:revision>1</cp:revision>
  <dc:title>Team6.pptx</dc:title>
</cp:coreProperties>
</file>