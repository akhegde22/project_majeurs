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Palatino Linotype"/>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alatinoLinotype-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alatinoLinotype-italic.fntdata"/><Relationship Id="rId12" Type="http://schemas.openxmlformats.org/officeDocument/2006/relationships/slide" Target="slides/slide7.xml"/><Relationship Id="rId34" Type="http://schemas.openxmlformats.org/officeDocument/2006/relationships/font" Target="fonts/PalatinoLinotype-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alatinoLinotype-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31505813b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331505813b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331505813b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g3331505813b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4"/>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4"/>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3" type="body"/>
          </p:nvPr>
        </p:nvSpPr>
        <p:spPr>
          <a:xfrm>
            <a:off x="6172203"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4"/>
          <p:cNvSpPr txBox="1"/>
          <p:nvPr>
            <p:ph idx="4" type="body"/>
          </p:nvPr>
        </p:nvSpPr>
        <p:spPr>
          <a:xfrm>
            <a:off x="6172203"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5"/>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6"/>
          <p:cNvSpPr txBox="1"/>
          <p:nvPr>
            <p:ph type="title"/>
          </p:nvPr>
        </p:nvSpPr>
        <p:spPr>
          <a:xfrm>
            <a:off x="831851" y="1709744"/>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831851" y="4589469"/>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6"/>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7"/>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31"/>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31"/>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3"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4"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417925"/>
            <a:ext cx="9144000" cy="16557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960"/>
              <a:buFont typeface="Palatino Linotype"/>
              <a:buNone/>
            </a:pPr>
            <a:r>
              <a:rPr lang="en-US" sz="3060">
                <a:latin typeface="Arial"/>
                <a:ea typeface="Arial"/>
                <a:cs typeface="Arial"/>
                <a:sym typeface="Arial"/>
              </a:rPr>
              <a:t>First Phase Project Presentation on</a:t>
            </a:r>
            <a:br>
              <a:rPr lang="en-US" sz="3060">
                <a:latin typeface="Palatino Linotype"/>
                <a:ea typeface="Palatino Linotype"/>
                <a:cs typeface="Palatino Linotype"/>
                <a:sym typeface="Palatino Linotype"/>
              </a:rPr>
            </a:br>
            <a:r>
              <a:rPr lang="en-US" sz="3060">
                <a:latin typeface="Arial"/>
                <a:ea typeface="Arial"/>
                <a:cs typeface="Arial"/>
                <a:sym typeface="Arial"/>
              </a:rPr>
              <a:t>"Enhancing Domain-Specific Capabilities of 7B Models Through Fine-Tuning and Retrieval-Augmented Generation"</a:t>
            </a:r>
            <a:endParaRPr sz="4500">
              <a:latin typeface="Arial"/>
              <a:ea typeface="Arial"/>
              <a:cs typeface="Arial"/>
              <a:sym typeface="Arial"/>
            </a:endParaRPr>
          </a:p>
        </p:txBody>
      </p:sp>
      <p:sp>
        <p:nvSpPr>
          <p:cNvPr id="89" name="Google Shape;89;p13"/>
          <p:cNvSpPr txBox="1"/>
          <p:nvPr>
            <p:ph idx="1" type="subTitle"/>
          </p:nvPr>
        </p:nvSpPr>
        <p:spPr>
          <a:xfrm>
            <a:off x="1524000" y="2601119"/>
            <a:ext cx="9144000" cy="1915320"/>
          </a:xfrm>
          <a:prstGeom prst="rect">
            <a:avLst/>
          </a:prstGeom>
          <a:noFill/>
          <a:ln>
            <a:noFill/>
          </a:ln>
        </p:spPr>
        <p:txBody>
          <a:bodyPr anchorCtr="0" anchor="t" bIns="45700" lIns="91425" spcFirstLastPara="1" rIns="91425" wrap="square" tIns="45700">
            <a:normAutofit/>
          </a:bodyPr>
          <a:lstStyle/>
          <a:p>
            <a:pPr indent="0" lvl="0" marL="0" rtl="0" algn="ctr">
              <a:lnSpc>
                <a:spcPct val="70000"/>
              </a:lnSpc>
              <a:spcBef>
                <a:spcPts val="0"/>
              </a:spcBef>
              <a:spcAft>
                <a:spcPts val="0"/>
              </a:spcAft>
              <a:buClr>
                <a:schemeClr val="dk1"/>
              </a:buClr>
              <a:buSzPts val="2400"/>
              <a:buNone/>
            </a:pPr>
            <a:r>
              <a:rPr b="1" lang="en-US" sz="2100">
                <a:latin typeface="Arial"/>
                <a:ea typeface="Arial"/>
                <a:cs typeface="Arial"/>
                <a:sym typeface="Arial"/>
              </a:rPr>
              <a:t>Presented By:</a:t>
            </a:r>
            <a:endParaRPr sz="2100">
              <a:latin typeface="Arial"/>
              <a:ea typeface="Arial"/>
              <a:cs typeface="Arial"/>
              <a:sym typeface="Arial"/>
            </a:endParaRPr>
          </a:p>
          <a:p>
            <a:pPr indent="0" lvl="0" marL="0" rtl="0" algn="ctr">
              <a:lnSpc>
                <a:spcPct val="70000"/>
              </a:lnSpc>
              <a:spcBef>
                <a:spcPts val="1000"/>
              </a:spcBef>
              <a:spcAft>
                <a:spcPts val="0"/>
              </a:spcAft>
              <a:buClr>
                <a:schemeClr val="dk1"/>
              </a:buClr>
              <a:buSzPts val="2400"/>
              <a:buNone/>
            </a:pPr>
            <a:r>
              <a:rPr lang="en-US" sz="2100">
                <a:latin typeface="Arial"/>
                <a:ea typeface="Arial"/>
                <a:cs typeface="Arial"/>
                <a:sym typeface="Arial"/>
              </a:rPr>
              <a:t>Akshaykumar</a:t>
            </a:r>
            <a:r>
              <a:rPr lang="en-US" sz="2100">
                <a:latin typeface="Arial"/>
                <a:ea typeface="Arial"/>
                <a:cs typeface="Arial"/>
                <a:sym typeface="Arial"/>
              </a:rPr>
              <a:t> (4MW22CS015)</a:t>
            </a:r>
            <a:endParaRPr sz="2100">
              <a:latin typeface="Arial"/>
              <a:ea typeface="Arial"/>
              <a:cs typeface="Arial"/>
              <a:sym typeface="Arial"/>
            </a:endParaRPr>
          </a:p>
          <a:p>
            <a:pPr indent="0" lvl="0" marL="0" rtl="0" algn="ctr">
              <a:lnSpc>
                <a:spcPct val="70000"/>
              </a:lnSpc>
              <a:spcBef>
                <a:spcPts val="1000"/>
              </a:spcBef>
              <a:spcAft>
                <a:spcPts val="0"/>
              </a:spcAft>
              <a:buClr>
                <a:schemeClr val="dk1"/>
              </a:buClr>
              <a:buSzPts val="2400"/>
              <a:buNone/>
            </a:pPr>
            <a:r>
              <a:rPr lang="en-US" sz="2100">
                <a:latin typeface="Arial"/>
                <a:ea typeface="Arial"/>
                <a:cs typeface="Arial"/>
                <a:sym typeface="Arial"/>
              </a:rPr>
              <a:t>Annson D’souza</a:t>
            </a:r>
            <a:r>
              <a:rPr lang="en-US" sz="2100">
                <a:latin typeface="Arial"/>
                <a:ea typeface="Arial"/>
                <a:cs typeface="Arial"/>
                <a:sym typeface="Arial"/>
              </a:rPr>
              <a:t> (4MW22CS025)</a:t>
            </a:r>
            <a:endParaRPr sz="2100">
              <a:latin typeface="Arial"/>
              <a:ea typeface="Arial"/>
              <a:cs typeface="Arial"/>
              <a:sym typeface="Arial"/>
            </a:endParaRPr>
          </a:p>
          <a:p>
            <a:pPr indent="0" lvl="0" marL="0" rtl="0" algn="ctr">
              <a:lnSpc>
                <a:spcPct val="70000"/>
              </a:lnSpc>
              <a:spcBef>
                <a:spcPts val="1000"/>
              </a:spcBef>
              <a:spcAft>
                <a:spcPts val="0"/>
              </a:spcAft>
              <a:buClr>
                <a:schemeClr val="dk1"/>
              </a:buClr>
              <a:buSzPts val="2400"/>
              <a:buNone/>
            </a:pPr>
            <a:r>
              <a:rPr lang="en-US" sz="2100">
                <a:latin typeface="Arial"/>
                <a:ea typeface="Arial"/>
                <a:cs typeface="Arial"/>
                <a:sym typeface="Arial"/>
              </a:rPr>
              <a:t>Dhansush S Shet</a:t>
            </a:r>
            <a:r>
              <a:rPr lang="en-US" sz="2100">
                <a:latin typeface="Arial"/>
                <a:ea typeface="Arial"/>
                <a:cs typeface="Arial"/>
                <a:sym typeface="Arial"/>
              </a:rPr>
              <a:t> (4MW22CS053)</a:t>
            </a:r>
            <a:endParaRPr sz="2100">
              <a:latin typeface="Arial"/>
              <a:ea typeface="Arial"/>
              <a:cs typeface="Arial"/>
              <a:sym typeface="Arial"/>
            </a:endParaRPr>
          </a:p>
          <a:p>
            <a:pPr indent="0" lvl="0" marL="0" rtl="0" algn="ctr">
              <a:lnSpc>
                <a:spcPct val="70000"/>
              </a:lnSpc>
              <a:spcBef>
                <a:spcPts val="1000"/>
              </a:spcBef>
              <a:spcAft>
                <a:spcPts val="0"/>
              </a:spcAft>
              <a:buClr>
                <a:schemeClr val="dk1"/>
              </a:buClr>
              <a:buSzPts val="2400"/>
              <a:buNone/>
            </a:pPr>
            <a:r>
              <a:rPr lang="en-US" sz="2100">
                <a:latin typeface="Arial"/>
                <a:ea typeface="Arial"/>
                <a:cs typeface="Arial"/>
                <a:sym typeface="Arial"/>
              </a:rPr>
              <a:t>Justin Aroza</a:t>
            </a:r>
            <a:r>
              <a:rPr lang="en-US" sz="2100">
                <a:latin typeface="Arial"/>
                <a:ea typeface="Arial"/>
                <a:cs typeface="Arial"/>
                <a:sym typeface="Arial"/>
              </a:rPr>
              <a:t> (4MW22CS068)</a:t>
            </a:r>
            <a:endParaRPr sz="2100">
              <a:latin typeface="Arial"/>
              <a:ea typeface="Arial"/>
              <a:cs typeface="Arial"/>
              <a:sym typeface="Arial"/>
            </a:endParaRPr>
          </a:p>
        </p:txBody>
      </p:sp>
      <p:sp>
        <p:nvSpPr>
          <p:cNvPr id="90" name="Google Shape;90;p13"/>
          <p:cNvSpPr txBox="1"/>
          <p:nvPr/>
        </p:nvSpPr>
        <p:spPr>
          <a:xfrm>
            <a:off x="1524000" y="4624559"/>
            <a:ext cx="9144000" cy="1655700"/>
          </a:xfrm>
          <a:prstGeom prst="rect">
            <a:avLst/>
          </a:prstGeom>
          <a:noFill/>
          <a:ln>
            <a:noFill/>
          </a:ln>
        </p:spPr>
        <p:txBody>
          <a:bodyPr anchorCtr="0" anchor="t" bIns="45700" lIns="91425" spcFirstLastPara="1" rIns="91425" wrap="square" tIns="45700">
            <a:noAutofit/>
          </a:bodyPr>
          <a:lstStyle/>
          <a:p>
            <a:pPr indent="0" lvl="0" marL="0" rtl="0" algn="ctr">
              <a:lnSpc>
                <a:spcPct val="70000"/>
              </a:lnSpc>
              <a:spcBef>
                <a:spcPts val="1000"/>
              </a:spcBef>
              <a:spcAft>
                <a:spcPts val="0"/>
              </a:spcAft>
              <a:buClr>
                <a:schemeClr val="dk1"/>
              </a:buClr>
              <a:buSzPts val="1500"/>
              <a:buFont typeface="Arial"/>
              <a:buNone/>
            </a:pPr>
            <a:r>
              <a:t/>
            </a:r>
            <a:endParaRPr sz="2000">
              <a:solidFill>
                <a:schemeClr val="dk1"/>
              </a:solidFill>
            </a:endParaRPr>
          </a:p>
          <a:p>
            <a:pPr indent="0" lvl="0" marL="0" marR="0" rtl="0" algn="ctr">
              <a:lnSpc>
                <a:spcPct val="70000"/>
              </a:lnSpc>
              <a:spcBef>
                <a:spcPts val="0"/>
              </a:spcBef>
              <a:spcAft>
                <a:spcPts val="0"/>
              </a:spcAft>
              <a:buClr>
                <a:schemeClr val="dk1"/>
              </a:buClr>
              <a:buSzPts val="1500"/>
              <a:buFont typeface="Arial"/>
              <a:buNone/>
            </a:pPr>
            <a:r>
              <a:rPr b="1" i="0" lang="en-US" sz="2000" u="none" cap="none" strike="noStrike">
                <a:solidFill>
                  <a:schemeClr val="dk1"/>
                </a:solidFill>
              </a:rPr>
              <a:t>Under the Guidance of</a:t>
            </a:r>
            <a:endParaRPr sz="1375"/>
          </a:p>
          <a:p>
            <a:pPr indent="0" lvl="0" marL="0" marR="0" rtl="0" algn="ctr">
              <a:lnSpc>
                <a:spcPct val="70000"/>
              </a:lnSpc>
              <a:spcBef>
                <a:spcPts val="1000"/>
              </a:spcBef>
              <a:spcAft>
                <a:spcPts val="0"/>
              </a:spcAft>
              <a:buClr>
                <a:schemeClr val="dk1"/>
              </a:buClr>
              <a:buSzPts val="1500"/>
              <a:buFont typeface="Arial"/>
              <a:buNone/>
            </a:pPr>
            <a:r>
              <a:rPr i="0" lang="en-US" sz="2000" u="none" cap="none" strike="noStrike">
                <a:solidFill>
                  <a:schemeClr val="dk1"/>
                </a:solidFill>
              </a:rPr>
              <a:t>Dr</a:t>
            </a:r>
            <a:r>
              <a:rPr lang="en-US" sz="2000">
                <a:solidFill>
                  <a:schemeClr val="dk1"/>
                </a:solidFill>
              </a:rPr>
              <a:t>.Nagraj Bhat</a:t>
            </a:r>
            <a:endParaRPr sz="1375"/>
          </a:p>
          <a:p>
            <a:pPr indent="0" lvl="0" marL="0" marR="0" rtl="0" algn="ctr">
              <a:lnSpc>
                <a:spcPct val="70000"/>
              </a:lnSpc>
              <a:spcBef>
                <a:spcPts val="1000"/>
              </a:spcBef>
              <a:spcAft>
                <a:spcPts val="0"/>
              </a:spcAft>
              <a:buClr>
                <a:schemeClr val="dk1"/>
              </a:buClr>
              <a:buSzPts val="1500"/>
              <a:buFont typeface="Arial"/>
              <a:buNone/>
            </a:pPr>
            <a:r>
              <a:rPr lang="en-US" sz="2000">
                <a:solidFill>
                  <a:schemeClr val="dk1"/>
                </a:solidFill>
              </a:rPr>
              <a:t>Proffesor and </a:t>
            </a:r>
            <a:r>
              <a:rPr lang="en-US" sz="2000">
                <a:solidFill>
                  <a:schemeClr val="dk1"/>
                </a:solidFill>
              </a:rPr>
              <a:t>Dean(Academics)</a:t>
            </a:r>
            <a:endParaRPr sz="1375"/>
          </a:p>
          <a:p>
            <a:pPr indent="0" lvl="0" marL="0" marR="0" rtl="0" algn="ctr">
              <a:lnSpc>
                <a:spcPct val="70000"/>
              </a:lnSpc>
              <a:spcBef>
                <a:spcPts val="1000"/>
              </a:spcBef>
              <a:spcAft>
                <a:spcPts val="0"/>
              </a:spcAft>
              <a:buClr>
                <a:schemeClr val="dk1"/>
              </a:buClr>
              <a:buSzPts val="1500"/>
              <a:buFont typeface="Arial"/>
              <a:buNone/>
            </a:pPr>
            <a:r>
              <a:rPr i="0" lang="en-US" sz="2000" u="none" cap="none" strike="noStrike">
                <a:solidFill>
                  <a:schemeClr val="dk1"/>
                </a:solidFill>
              </a:rPr>
              <a:t>Dept. of CSE</a:t>
            </a:r>
            <a:endParaRPr sz="1375"/>
          </a:p>
          <a:p>
            <a:pPr indent="0" lvl="0" marL="0" marR="0" rtl="0" algn="ctr">
              <a:lnSpc>
                <a:spcPct val="70000"/>
              </a:lnSpc>
              <a:spcBef>
                <a:spcPts val="1000"/>
              </a:spcBef>
              <a:spcAft>
                <a:spcPts val="0"/>
              </a:spcAft>
              <a:buClr>
                <a:schemeClr val="dk1"/>
              </a:buClr>
              <a:buSzPts val="1500"/>
              <a:buFont typeface="Arial"/>
              <a:buNone/>
            </a:pPr>
            <a:r>
              <a:rPr i="0" lang="en-US" sz="2000" u="none" cap="none" strike="noStrike">
                <a:solidFill>
                  <a:schemeClr val="dk1"/>
                </a:solidFill>
              </a:rPr>
              <a:t>SMVITM, Bantakal</a:t>
            </a:r>
            <a:endParaRPr i="0" sz="2000" u="none" cap="none" strike="noStrike">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838200" y="365126"/>
            <a:ext cx="10515600" cy="11352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Palatino Linotype"/>
              <a:buNone/>
            </a:pPr>
            <a:r>
              <a:rPr b="1" lang="en-US">
                <a:latin typeface="Palatino Linotype"/>
                <a:ea typeface="Palatino Linotype"/>
                <a:cs typeface="Palatino Linotype"/>
                <a:sym typeface="Palatino Linotype"/>
              </a:rPr>
              <a:t>Current Issues with 7B Models in Domain-Specific Applications</a:t>
            </a:r>
            <a:endParaRPr b="1">
              <a:latin typeface="Palatino Linotype"/>
              <a:ea typeface="Palatino Linotype"/>
              <a:cs typeface="Palatino Linotype"/>
              <a:sym typeface="Palatino Linotype"/>
            </a:endParaRPr>
          </a:p>
        </p:txBody>
      </p:sp>
      <p:sp>
        <p:nvSpPr>
          <p:cNvPr id="96" name="Google Shape;96;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50000"/>
              </a:lnSpc>
              <a:spcBef>
                <a:spcPts val="1400"/>
              </a:spcBef>
              <a:spcAft>
                <a:spcPts val="0"/>
              </a:spcAft>
              <a:buNone/>
            </a:pPr>
            <a:r>
              <a:rPr b="1" lang="en-US" sz="8000">
                <a:latin typeface="Arial"/>
                <a:ea typeface="Arial"/>
                <a:cs typeface="Arial"/>
                <a:sym typeface="Arial"/>
              </a:rPr>
              <a:t>1. Difficulty in Handling Specialized Knowledge</a:t>
            </a:r>
            <a:endParaRPr b="1" sz="8000">
              <a:latin typeface="Arial"/>
              <a:ea typeface="Arial"/>
              <a:cs typeface="Arial"/>
              <a:sym typeface="Arial"/>
            </a:endParaRPr>
          </a:p>
          <a:p>
            <a:pPr indent="-355600" lvl="0" marL="457200" rtl="0" algn="l">
              <a:lnSpc>
                <a:spcPct val="150000"/>
              </a:lnSpc>
              <a:spcBef>
                <a:spcPts val="1200"/>
              </a:spcBef>
              <a:spcAft>
                <a:spcPts val="0"/>
              </a:spcAft>
              <a:buSzPct val="100000"/>
              <a:buChar char="●"/>
            </a:pPr>
            <a:r>
              <a:rPr lang="en-US" sz="8000">
                <a:latin typeface="Arial"/>
                <a:ea typeface="Arial"/>
                <a:cs typeface="Arial"/>
                <a:sym typeface="Arial"/>
              </a:rPr>
              <a:t>Many AI models, especially smaller ones like 7B, struggle to provide accurate information in areas like medicine, law, and finance.</a:t>
            </a:r>
            <a:endParaRPr sz="8000">
              <a:latin typeface="Arial"/>
              <a:ea typeface="Arial"/>
              <a:cs typeface="Arial"/>
              <a:sym typeface="Arial"/>
            </a:endParaRPr>
          </a:p>
          <a:p>
            <a:pPr indent="-355600" lvl="0" marL="457200" rtl="0" algn="l">
              <a:lnSpc>
                <a:spcPct val="150000"/>
              </a:lnSpc>
              <a:spcBef>
                <a:spcPts val="0"/>
              </a:spcBef>
              <a:spcAft>
                <a:spcPts val="0"/>
              </a:spcAft>
              <a:buSzPct val="100000"/>
              <a:buChar char="●"/>
            </a:pPr>
            <a:r>
              <a:rPr lang="en-US" sz="8000">
                <a:latin typeface="Arial"/>
                <a:ea typeface="Arial"/>
                <a:cs typeface="Arial"/>
                <a:sym typeface="Arial"/>
              </a:rPr>
              <a:t>This can lead to misleading or incomplete answers when used in real-world applications.</a:t>
            </a:r>
            <a:endParaRPr sz="8000">
              <a:latin typeface="Arial"/>
              <a:ea typeface="Arial"/>
              <a:cs typeface="Arial"/>
              <a:sym typeface="Arial"/>
            </a:endParaRPr>
          </a:p>
          <a:p>
            <a:pPr indent="0" lvl="0" marL="0" rtl="0" algn="l">
              <a:lnSpc>
                <a:spcPct val="150000"/>
              </a:lnSpc>
              <a:spcBef>
                <a:spcPts val="1400"/>
              </a:spcBef>
              <a:spcAft>
                <a:spcPts val="0"/>
              </a:spcAft>
              <a:buNone/>
            </a:pPr>
            <a:r>
              <a:rPr b="1" lang="en-US" sz="8000">
                <a:latin typeface="Arial"/>
                <a:ea typeface="Arial"/>
                <a:cs typeface="Arial"/>
                <a:sym typeface="Arial"/>
              </a:rPr>
              <a:t>2. Bias in AI Responses</a:t>
            </a:r>
            <a:endParaRPr b="1" sz="8000">
              <a:latin typeface="Arial"/>
              <a:ea typeface="Arial"/>
              <a:cs typeface="Arial"/>
              <a:sym typeface="Arial"/>
            </a:endParaRPr>
          </a:p>
          <a:p>
            <a:pPr indent="-355600" lvl="0" marL="457200" rtl="0" algn="l">
              <a:lnSpc>
                <a:spcPct val="150000"/>
              </a:lnSpc>
              <a:spcBef>
                <a:spcPts val="1200"/>
              </a:spcBef>
              <a:spcAft>
                <a:spcPts val="0"/>
              </a:spcAft>
              <a:buSzPct val="100000"/>
              <a:buChar char="●"/>
            </a:pPr>
            <a:r>
              <a:rPr lang="en-US" sz="8000">
                <a:latin typeface="Arial"/>
                <a:ea typeface="Arial"/>
                <a:cs typeface="Arial"/>
                <a:sym typeface="Arial"/>
              </a:rPr>
              <a:t>If a model is trained on biased data, it may generate unfair or incorrect responses.</a:t>
            </a:r>
            <a:endParaRPr sz="8000">
              <a:latin typeface="Arial"/>
              <a:ea typeface="Arial"/>
              <a:cs typeface="Arial"/>
              <a:sym typeface="Arial"/>
            </a:endParaRPr>
          </a:p>
          <a:p>
            <a:pPr indent="-355600" lvl="0" marL="457200" rtl="0" algn="l">
              <a:lnSpc>
                <a:spcPct val="150000"/>
              </a:lnSpc>
              <a:spcBef>
                <a:spcPts val="0"/>
              </a:spcBef>
              <a:spcAft>
                <a:spcPts val="0"/>
              </a:spcAft>
              <a:buSzPct val="100000"/>
              <a:buChar char="●"/>
            </a:pPr>
            <a:r>
              <a:rPr lang="en-US" sz="8000">
                <a:latin typeface="Arial"/>
                <a:ea typeface="Arial"/>
                <a:cs typeface="Arial"/>
                <a:sym typeface="Arial"/>
              </a:rPr>
              <a:t>This can be a problem in areas like job recruitment, automated support systems, or legal advice.</a:t>
            </a:r>
            <a:endParaRPr sz="8000">
              <a:latin typeface="Arial"/>
              <a:ea typeface="Arial"/>
              <a:cs typeface="Arial"/>
              <a:sym typeface="Arial"/>
            </a:endParaRPr>
          </a:p>
          <a:p>
            <a:pPr indent="0" lvl="0" marL="457200" rtl="0" algn="just">
              <a:lnSpc>
                <a:spcPct val="115000"/>
              </a:lnSpc>
              <a:spcBef>
                <a:spcPts val="1200"/>
              </a:spcBef>
              <a:spcAft>
                <a:spcPts val="0"/>
              </a:spcAft>
              <a:buNone/>
            </a:pPr>
            <a:r>
              <a:t/>
            </a:r>
            <a:endParaRPr sz="2000">
              <a:latin typeface="Arial"/>
              <a:ea typeface="Arial"/>
              <a:cs typeface="Arial"/>
              <a:sym typeface="Arial"/>
            </a:endParaRPr>
          </a:p>
          <a:p>
            <a:pPr indent="0" lvl="0" marL="0" rtl="0" algn="l">
              <a:lnSpc>
                <a:spcPct val="90000"/>
              </a:lnSpc>
              <a:spcBef>
                <a:spcPts val="1200"/>
              </a:spcBef>
              <a:spcAft>
                <a:spcPts val="0"/>
              </a:spcAft>
              <a:buNone/>
            </a:pPr>
            <a:r>
              <a:t/>
            </a:r>
            <a:endParaRPr b="1" sz="2400">
              <a:latin typeface="Arial"/>
              <a:ea typeface="Arial"/>
              <a:cs typeface="Arial"/>
              <a:sym typeface="Arial"/>
            </a:endParaRPr>
          </a:p>
        </p:txBody>
      </p:sp>
      <p:sp>
        <p:nvSpPr>
          <p:cNvPr id="97" name="Google Shape;97;p14"/>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98" name="Google Shape;98;p14"/>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99" name="Google Shape;99;p14"/>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latin typeface="Palatino Linotype"/>
                <a:ea typeface="Palatino Linotype"/>
                <a:cs typeface="Palatino Linotype"/>
                <a:sym typeface="Palatino Linotype"/>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981150" y="418754"/>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Palatino Linotype"/>
              <a:buNone/>
            </a:pPr>
            <a:r>
              <a:rPr b="1" lang="en-US">
                <a:latin typeface="Palatino Linotype"/>
                <a:ea typeface="Palatino Linotype"/>
                <a:cs typeface="Palatino Linotype"/>
                <a:sym typeface="Palatino Linotype"/>
              </a:rPr>
              <a:t>Current Issues with 7B Models in Domain-Specific Applications</a:t>
            </a:r>
            <a:endParaRPr b="1">
              <a:latin typeface="Palatino Linotype"/>
              <a:ea typeface="Palatino Linotype"/>
              <a:cs typeface="Palatino Linotype"/>
              <a:sym typeface="Palatino Linotype"/>
            </a:endParaRPr>
          </a:p>
          <a:p>
            <a:pPr indent="0" lvl="0" marL="0" rtl="0" algn="l">
              <a:lnSpc>
                <a:spcPct val="90000"/>
              </a:lnSpc>
              <a:spcBef>
                <a:spcPts val="0"/>
              </a:spcBef>
              <a:spcAft>
                <a:spcPts val="0"/>
              </a:spcAft>
              <a:buClr>
                <a:schemeClr val="dk1"/>
              </a:buClr>
              <a:buSzPct val="100000"/>
              <a:buFont typeface="Palatino Linotype"/>
              <a:buNone/>
            </a:pPr>
            <a:r>
              <a:t/>
            </a:r>
            <a:endParaRPr b="1">
              <a:latin typeface="Palatino Linotype"/>
              <a:ea typeface="Palatino Linotype"/>
              <a:cs typeface="Palatino Linotype"/>
              <a:sym typeface="Palatino Linotype"/>
            </a:endParaRPr>
          </a:p>
        </p:txBody>
      </p:sp>
      <p:sp>
        <p:nvSpPr>
          <p:cNvPr id="105" name="Google Shape;105;p15"/>
          <p:cNvSpPr txBox="1"/>
          <p:nvPr>
            <p:ph idx="1" type="body"/>
          </p:nvPr>
        </p:nvSpPr>
        <p:spPr>
          <a:xfrm>
            <a:off x="838200" y="1664950"/>
            <a:ext cx="10801500" cy="4691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400"/>
              </a:spcBef>
              <a:spcAft>
                <a:spcPts val="0"/>
              </a:spcAft>
              <a:buClr>
                <a:schemeClr val="dk1"/>
              </a:buClr>
              <a:buSzPts val="1100"/>
              <a:buFont typeface="Arial"/>
              <a:buNone/>
            </a:pPr>
            <a:r>
              <a:rPr b="1" lang="en-US" sz="2000">
                <a:latin typeface="Arial"/>
                <a:ea typeface="Arial"/>
                <a:cs typeface="Arial"/>
                <a:sym typeface="Arial"/>
              </a:rPr>
              <a:t>3. Computational and Cost Challenges</a:t>
            </a:r>
            <a:endParaRPr b="1" sz="2000">
              <a:latin typeface="Arial"/>
              <a:ea typeface="Arial"/>
              <a:cs typeface="Arial"/>
              <a:sym typeface="Arial"/>
            </a:endParaRPr>
          </a:p>
          <a:p>
            <a:pPr indent="-355600" lvl="0" marL="457200" rtl="0" algn="l">
              <a:lnSpc>
                <a:spcPct val="150000"/>
              </a:lnSpc>
              <a:spcBef>
                <a:spcPts val="1200"/>
              </a:spcBef>
              <a:spcAft>
                <a:spcPts val="0"/>
              </a:spcAft>
              <a:buSzPts val="2000"/>
              <a:buChar char="●"/>
            </a:pPr>
            <a:r>
              <a:rPr lang="en-US" sz="2000">
                <a:latin typeface="Arial"/>
                <a:ea typeface="Arial"/>
                <a:cs typeface="Arial"/>
                <a:sym typeface="Arial"/>
              </a:rPr>
              <a:t>Fine-tuning a model requires a lot of computing power, which can be expensive.</a:t>
            </a:r>
            <a:endParaRPr sz="2000">
              <a:latin typeface="Arial"/>
              <a:ea typeface="Arial"/>
              <a:cs typeface="Arial"/>
              <a:sym typeface="Arial"/>
            </a:endParaRPr>
          </a:p>
          <a:p>
            <a:pPr indent="-355600" lvl="0" marL="457200" rtl="0" algn="l">
              <a:lnSpc>
                <a:spcPct val="150000"/>
              </a:lnSpc>
              <a:spcBef>
                <a:spcPts val="0"/>
              </a:spcBef>
              <a:spcAft>
                <a:spcPts val="0"/>
              </a:spcAft>
              <a:buSzPts val="2000"/>
              <a:buChar char="●"/>
            </a:pPr>
            <a:r>
              <a:rPr lang="en-US" sz="2000">
                <a:latin typeface="Arial"/>
                <a:ea typeface="Arial"/>
                <a:cs typeface="Arial"/>
                <a:sym typeface="Arial"/>
              </a:rPr>
              <a:t>Small startups or research teams might struggle to keep up with large tech companies that have more resources.</a:t>
            </a:r>
            <a:endParaRPr sz="2000">
              <a:latin typeface="Arial"/>
              <a:ea typeface="Arial"/>
              <a:cs typeface="Arial"/>
              <a:sym typeface="Arial"/>
            </a:endParaRPr>
          </a:p>
          <a:p>
            <a:pPr indent="0" lvl="0" marL="0" rtl="0" algn="l">
              <a:lnSpc>
                <a:spcPct val="150000"/>
              </a:lnSpc>
              <a:spcBef>
                <a:spcPts val="1400"/>
              </a:spcBef>
              <a:spcAft>
                <a:spcPts val="0"/>
              </a:spcAft>
              <a:buClr>
                <a:schemeClr val="dk1"/>
              </a:buClr>
              <a:buSzPts val="1100"/>
              <a:buFont typeface="Arial"/>
              <a:buNone/>
            </a:pPr>
            <a:r>
              <a:rPr b="1" lang="en-US" sz="2000">
                <a:latin typeface="Arial"/>
                <a:ea typeface="Arial"/>
                <a:cs typeface="Arial"/>
                <a:sym typeface="Arial"/>
              </a:rPr>
              <a:t>4. Misinformation and Hallucination Issues</a:t>
            </a:r>
            <a:endParaRPr b="1" sz="2000">
              <a:latin typeface="Arial"/>
              <a:ea typeface="Arial"/>
              <a:cs typeface="Arial"/>
              <a:sym typeface="Arial"/>
            </a:endParaRPr>
          </a:p>
          <a:p>
            <a:pPr indent="-355600" lvl="0" marL="457200" rtl="0" algn="l">
              <a:lnSpc>
                <a:spcPct val="150000"/>
              </a:lnSpc>
              <a:spcBef>
                <a:spcPts val="1200"/>
              </a:spcBef>
              <a:spcAft>
                <a:spcPts val="0"/>
              </a:spcAft>
              <a:buSzPts val="2000"/>
              <a:buChar char="●"/>
            </a:pPr>
            <a:r>
              <a:rPr lang="en-US" sz="2000">
                <a:latin typeface="Arial"/>
                <a:ea typeface="Arial"/>
                <a:cs typeface="Arial"/>
                <a:sym typeface="Arial"/>
              </a:rPr>
              <a:t>Even when using retrieval-augmented generation (RAG), models sometimes "make up" information when they don’t find relevant data.</a:t>
            </a:r>
            <a:endParaRPr sz="2000">
              <a:latin typeface="Arial"/>
              <a:ea typeface="Arial"/>
              <a:cs typeface="Arial"/>
              <a:sym typeface="Arial"/>
            </a:endParaRPr>
          </a:p>
          <a:p>
            <a:pPr indent="-355600" lvl="0" marL="457200" rtl="0" algn="l">
              <a:lnSpc>
                <a:spcPct val="150000"/>
              </a:lnSpc>
              <a:spcBef>
                <a:spcPts val="0"/>
              </a:spcBef>
              <a:spcAft>
                <a:spcPts val="0"/>
              </a:spcAft>
              <a:buSzPts val="2000"/>
              <a:buChar char="●"/>
            </a:pPr>
            <a:r>
              <a:rPr lang="en-US" sz="2000">
                <a:latin typeface="Arial"/>
                <a:ea typeface="Arial"/>
                <a:cs typeface="Arial"/>
                <a:sym typeface="Arial"/>
              </a:rPr>
              <a:t>This can be risky in applications where accuracy is important, like customer support or academic research.</a:t>
            </a:r>
            <a:endParaRPr sz="2000">
              <a:latin typeface="Arial"/>
              <a:ea typeface="Arial"/>
              <a:cs typeface="Arial"/>
              <a:sym typeface="Arial"/>
            </a:endParaRPr>
          </a:p>
          <a:p>
            <a:pPr indent="0" lvl="0" marL="457200" rtl="0" algn="l">
              <a:lnSpc>
                <a:spcPct val="150000"/>
              </a:lnSpc>
              <a:spcBef>
                <a:spcPts val="1200"/>
              </a:spcBef>
              <a:spcAft>
                <a:spcPts val="0"/>
              </a:spcAft>
              <a:buNone/>
            </a:pPr>
            <a:r>
              <a:t/>
            </a:r>
            <a:endParaRPr b="1" sz="2000">
              <a:latin typeface="Arial"/>
              <a:ea typeface="Arial"/>
              <a:cs typeface="Arial"/>
              <a:sym typeface="Arial"/>
            </a:endParaRPr>
          </a:p>
          <a:p>
            <a:pPr indent="0" lvl="0" marL="228593" rtl="0" algn="l">
              <a:spcBef>
                <a:spcPts val="1200"/>
              </a:spcBef>
              <a:spcAft>
                <a:spcPts val="0"/>
              </a:spcAft>
              <a:buClr>
                <a:schemeClr val="dk1"/>
              </a:buClr>
              <a:buSzPts val="1100"/>
              <a:buFont typeface="Arial"/>
              <a:buNone/>
            </a:pPr>
            <a:r>
              <a:t/>
            </a:r>
            <a:endParaRPr b="1" sz="2400">
              <a:latin typeface="Arial"/>
              <a:ea typeface="Arial"/>
              <a:cs typeface="Arial"/>
              <a:sym typeface="Arial"/>
            </a:endParaRPr>
          </a:p>
          <a:p>
            <a:pPr indent="0" lvl="0" marL="228593" rtl="0" algn="l">
              <a:lnSpc>
                <a:spcPct val="90000"/>
              </a:lnSpc>
              <a:spcBef>
                <a:spcPts val="1000"/>
              </a:spcBef>
              <a:spcAft>
                <a:spcPts val="0"/>
              </a:spcAft>
              <a:buNone/>
            </a:pPr>
            <a:r>
              <a:t/>
            </a:r>
            <a:endParaRPr b="1" sz="2000">
              <a:latin typeface="Arial"/>
              <a:ea typeface="Arial"/>
              <a:cs typeface="Arial"/>
              <a:sym typeface="Arial"/>
            </a:endParaRPr>
          </a:p>
        </p:txBody>
      </p:sp>
      <p:sp>
        <p:nvSpPr>
          <p:cNvPr id="106" name="Google Shape;106;p15"/>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107" name="Google Shape;107;p15"/>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08" name="Google Shape;108;p15"/>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latin typeface="Palatino Linotype"/>
                <a:ea typeface="Palatino Linotype"/>
                <a:cs typeface="Palatino Linotype"/>
                <a:sym typeface="Palatino Linotype"/>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356000" y="641879"/>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Palatino Linotype"/>
              <a:buNone/>
            </a:pPr>
            <a:r>
              <a:rPr b="1" lang="en-US">
                <a:latin typeface="Palatino Linotype"/>
                <a:ea typeface="Palatino Linotype"/>
                <a:cs typeface="Palatino Linotype"/>
                <a:sym typeface="Palatino Linotype"/>
              </a:rPr>
              <a:t>Current Issues with 7B Models in Domain-Specific Applications</a:t>
            </a:r>
            <a:endParaRPr b="1">
              <a:latin typeface="Palatino Linotype"/>
              <a:ea typeface="Palatino Linotype"/>
              <a:cs typeface="Palatino Linotype"/>
              <a:sym typeface="Palatino Linotype"/>
            </a:endParaRPr>
          </a:p>
          <a:p>
            <a:pPr indent="0" lvl="0" marL="0" rtl="0" algn="l">
              <a:lnSpc>
                <a:spcPct val="90000"/>
              </a:lnSpc>
              <a:spcBef>
                <a:spcPts val="0"/>
              </a:spcBef>
              <a:spcAft>
                <a:spcPts val="0"/>
              </a:spcAft>
              <a:buClr>
                <a:schemeClr val="dk1"/>
              </a:buClr>
              <a:buSzPct val="100000"/>
              <a:buFont typeface="Palatino Linotype"/>
              <a:buNone/>
            </a:pPr>
            <a:r>
              <a:t/>
            </a:r>
            <a:endParaRPr b="1">
              <a:latin typeface="Palatino Linotype"/>
              <a:ea typeface="Palatino Linotype"/>
              <a:cs typeface="Palatino Linotype"/>
              <a:sym typeface="Palatino Linotype"/>
            </a:endParaRPr>
          </a:p>
        </p:txBody>
      </p:sp>
      <p:sp>
        <p:nvSpPr>
          <p:cNvPr id="114" name="Google Shape;114;p16"/>
          <p:cNvSpPr txBox="1"/>
          <p:nvPr>
            <p:ph idx="1" type="body"/>
          </p:nvPr>
        </p:nvSpPr>
        <p:spPr>
          <a:xfrm>
            <a:off x="838200" y="211137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400"/>
              </a:spcBef>
              <a:spcAft>
                <a:spcPts val="0"/>
              </a:spcAft>
              <a:buNone/>
            </a:pPr>
            <a:r>
              <a:rPr b="1" lang="en-US" sz="2100">
                <a:latin typeface="Arial"/>
                <a:ea typeface="Arial"/>
                <a:cs typeface="Arial"/>
                <a:sym typeface="Arial"/>
              </a:rPr>
              <a:t>5. Privacy Concerns with External Data Sources</a:t>
            </a:r>
            <a:endParaRPr b="1" sz="2100">
              <a:latin typeface="Arial"/>
              <a:ea typeface="Arial"/>
              <a:cs typeface="Arial"/>
              <a:sym typeface="Arial"/>
            </a:endParaRPr>
          </a:p>
          <a:p>
            <a:pPr indent="-361950" lvl="0" marL="457200" rtl="0" algn="l">
              <a:lnSpc>
                <a:spcPct val="150000"/>
              </a:lnSpc>
              <a:spcBef>
                <a:spcPts val="1200"/>
              </a:spcBef>
              <a:spcAft>
                <a:spcPts val="0"/>
              </a:spcAft>
              <a:buSzPts val="2100"/>
              <a:buChar char="●"/>
            </a:pPr>
            <a:r>
              <a:rPr lang="en-US" sz="2100">
                <a:latin typeface="Arial"/>
                <a:ea typeface="Arial"/>
                <a:cs typeface="Arial"/>
                <a:sym typeface="Arial"/>
              </a:rPr>
              <a:t>RAG-based systems pull information from external sources, but this raises concerns about whether private or sensitive data is being accessed or misused.</a:t>
            </a:r>
            <a:endParaRPr sz="2100">
              <a:latin typeface="Arial"/>
              <a:ea typeface="Arial"/>
              <a:cs typeface="Arial"/>
              <a:sym typeface="Arial"/>
            </a:endParaRPr>
          </a:p>
          <a:p>
            <a:pPr indent="-361950" lvl="0" marL="457200" rtl="0" algn="l">
              <a:lnSpc>
                <a:spcPct val="150000"/>
              </a:lnSpc>
              <a:spcBef>
                <a:spcPts val="0"/>
              </a:spcBef>
              <a:spcAft>
                <a:spcPts val="0"/>
              </a:spcAft>
              <a:buSzPts val="2100"/>
              <a:buChar char="●"/>
            </a:pPr>
            <a:r>
              <a:rPr lang="en-US" sz="2100">
                <a:latin typeface="Arial"/>
                <a:ea typeface="Arial"/>
                <a:cs typeface="Arial"/>
                <a:sym typeface="Arial"/>
              </a:rPr>
              <a:t>Ensuring secure data usage is an ongoing challenge</a:t>
            </a:r>
            <a:endParaRPr b="1" sz="2500">
              <a:latin typeface="Arial"/>
              <a:ea typeface="Arial"/>
              <a:cs typeface="Arial"/>
              <a:sym typeface="Arial"/>
            </a:endParaRPr>
          </a:p>
        </p:txBody>
      </p:sp>
      <p:sp>
        <p:nvSpPr>
          <p:cNvPr id="115" name="Google Shape;115;p16"/>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116" name="Google Shape;116;p16"/>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17" name="Google Shape;117;p16"/>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latin typeface="Palatino Linotype"/>
                <a:ea typeface="Palatino Linotype"/>
                <a:cs typeface="Palatino Linotype"/>
                <a:sym typeface="Palatino Linotype"/>
              </a:rPr>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7"/>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sz="4000">
                <a:latin typeface="Palatino Linotype"/>
                <a:ea typeface="Palatino Linotype"/>
                <a:cs typeface="Palatino Linotype"/>
                <a:sym typeface="Palatino Linotype"/>
              </a:rPr>
              <a:t>Introduction to 7B Models and Their Limitations</a:t>
            </a:r>
            <a:endParaRPr sz="4000"/>
          </a:p>
        </p:txBody>
      </p:sp>
      <p:sp>
        <p:nvSpPr>
          <p:cNvPr id="123" name="Google Shape;123;p17"/>
          <p:cNvSpPr txBox="1"/>
          <p:nvPr>
            <p:ph idx="1" type="body"/>
          </p:nvPr>
        </p:nvSpPr>
        <p:spPr>
          <a:xfrm>
            <a:off x="838200" y="1825625"/>
            <a:ext cx="10515600" cy="489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770"/>
              <a:buNone/>
            </a:pPr>
            <a:r>
              <a:rPr b="1" lang="en-US" sz="2126">
                <a:latin typeface="Arial"/>
                <a:ea typeface="Arial"/>
                <a:cs typeface="Arial"/>
                <a:sym typeface="Arial"/>
              </a:rPr>
              <a:t>What Are 7B Models?</a:t>
            </a:r>
            <a:endParaRPr b="1" sz="2126">
              <a:latin typeface="Arial"/>
              <a:ea typeface="Arial"/>
              <a:cs typeface="Arial"/>
              <a:sym typeface="Arial"/>
            </a:endParaRPr>
          </a:p>
          <a:p>
            <a:pPr indent="-363645" lvl="0" marL="457200" rtl="0" algn="l">
              <a:lnSpc>
                <a:spcPct val="115000"/>
              </a:lnSpc>
              <a:spcBef>
                <a:spcPts val="1200"/>
              </a:spcBef>
              <a:spcAft>
                <a:spcPts val="0"/>
              </a:spcAft>
              <a:buSzPts val="2127"/>
              <a:buChar char="●"/>
            </a:pPr>
            <a:r>
              <a:rPr lang="en-US" sz="2126">
                <a:latin typeface="Arial"/>
                <a:ea typeface="Arial"/>
                <a:cs typeface="Arial"/>
                <a:sym typeface="Arial"/>
              </a:rPr>
              <a:t>AI models with </a:t>
            </a:r>
            <a:r>
              <a:rPr b="1" lang="en-US" sz="2126">
                <a:latin typeface="Arial"/>
                <a:ea typeface="Arial"/>
                <a:cs typeface="Arial"/>
                <a:sym typeface="Arial"/>
              </a:rPr>
              <a:t>7 billion parameters</a:t>
            </a:r>
            <a:r>
              <a:rPr lang="en-US" sz="2126">
                <a:latin typeface="Arial"/>
                <a:ea typeface="Arial"/>
                <a:cs typeface="Arial"/>
                <a:sym typeface="Arial"/>
              </a:rPr>
              <a:t>, designed to process and generate human-like text.</a:t>
            </a:r>
            <a:endParaRPr sz="2126">
              <a:latin typeface="Arial"/>
              <a:ea typeface="Arial"/>
              <a:cs typeface="Arial"/>
              <a:sym typeface="Arial"/>
            </a:endParaRPr>
          </a:p>
          <a:p>
            <a:pPr indent="-363645" lvl="0" marL="457200" rtl="0" algn="l">
              <a:lnSpc>
                <a:spcPct val="115000"/>
              </a:lnSpc>
              <a:spcBef>
                <a:spcPts val="0"/>
              </a:spcBef>
              <a:spcAft>
                <a:spcPts val="0"/>
              </a:spcAft>
              <a:buSzPts val="2127"/>
              <a:buChar char="●"/>
            </a:pPr>
            <a:r>
              <a:rPr lang="en-US" sz="2126">
                <a:latin typeface="Arial"/>
                <a:ea typeface="Arial"/>
                <a:cs typeface="Arial"/>
                <a:sym typeface="Arial"/>
              </a:rPr>
              <a:t>Used in chatbots, customer support, coding assistants, and more.</a:t>
            </a:r>
            <a:endParaRPr sz="2126">
              <a:latin typeface="Arial"/>
              <a:ea typeface="Arial"/>
              <a:cs typeface="Arial"/>
              <a:sym typeface="Arial"/>
            </a:endParaRPr>
          </a:p>
          <a:p>
            <a:pPr indent="-363645" lvl="0" marL="457200" rtl="0" algn="l">
              <a:lnSpc>
                <a:spcPct val="115000"/>
              </a:lnSpc>
              <a:spcBef>
                <a:spcPts val="0"/>
              </a:spcBef>
              <a:spcAft>
                <a:spcPts val="0"/>
              </a:spcAft>
              <a:buSzPts val="2127"/>
              <a:buChar char="●"/>
            </a:pPr>
            <a:r>
              <a:rPr lang="en-US" sz="2126">
                <a:latin typeface="Arial"/>
                <a:ea typeface="Arial"/>
                <a:cs typeface="Arial"/>
                <a:sym typeface="Arial"/>
              </a:rPr>
              <a:t>While efficient, they </a:t>
            </a:r>
            <a:r>
              <a:rPr b="1" lang="en-US" sz="2126">
                <a:latin typeface="Arial"/>
                <a:ea typeface="Arial"/>
                <a:cs typeface="Arial"/>
                <a:sym typeface="Arial"/>
              </a:rPr>
              <a:t>lack deep knowledge in specialized domains</a:t>
            </a:r>
            <a:r>
              <a:rPr lang="en-US" sz="2126">
                <a:latin typeface="Arial"/>
                <a:ea typeface="Arial"/>
                <a:cs typeface="Arial"/>
                <a:sym typeface="Arial"/>
              </a:rPr>
              <a:t> like healthcare, law, and finance.</a:t>
            </a:r>
            <a:endParaRPr sz="2126">
              <a:latin typeface="Arial"/>
              <a:ea typeface="Arial"/>
              <a:cs typeface="Arial"/>
              <a:sym typeface="Arial"/>
            </a:endParaRPr>
          </a:p>
          <a:p>
            <a:pPr indent="0" lvl="0" marL="0" rtl="0" algn="l">
              <a:lnSpc>
                <a:spcPct val="115000"/>
              </a:lnSpc>
              <a:spcBef>
                <a:spcPts val="1200"/>
              </a:spcBef>
              <a:spcAft>
                <a:spcPts val="0"/>
              </a:spcAft>
              <a:buSzPts val="770"/>
              <a:buNone/>
            </a:pPr>
            <a:r>
              <a:rPr b="1" lang="en-US" sz="2126">
                <a:latin typeface="Arial"/>
                <a:ea typeface="Arial"/>
                <a:cs typeface="Arial"/>
                <a:sym typeface="Arial"/>
              </a:rPr>
              <a:t>Why Do They Have Limitations?</a:t>
            </a:r>
            <a:endParaRPr b="1" sz="2126">
              <a:latin typeface="Arial"/>
              <a:ea typeface="Arial"/>
              <a:cs typeface="Arial"/>
              <a:sym typeface="Arial"/>
            </a:endParaRPr>
          </a:p>
          <a:p>
            <a:pPr indent="-363645" lvl="0" marL="457200" rtl="0" algn="l">
              <a:lnSpc>
                <a:spcPct val="115000"/>
              </a:lnSpc>
              <a:spcBef>
                <a:spcPts val="1200"/>
              </a:spcBef>
              <a:spcAft>
                <a:spcPts val="0"/>
              </a:spcAft>
              <a:buSzPts val="2127"/>
              <a:buChar char="●"/>
            </a:pPr>
            <a:r>
              <a:rPr b="1" lang="en-US" sz="2126">
                <a:latin typeface="Arial"/>
                <a:ea typeface="Arial"/>
                <a:cs typeface="Arial"/>
                <a:sym typeface="Arial"/>
              </a:rPr>
              <a:t>Limited training data</a:t>
            </a:r>
            <a:r>
              <a:rPr lang="en-US" sz="2126">
                <a:latin typeface="Arial"/>
                <a:ea typeface="Arial"/>
                <a:cs typeface="Arial"/>
                <a:sym typeface="Arial"/>
              </a:rPr>
              <a:t>: Trained on general datasets, not specific to niche fields.</a:t>
            </a:r>
            <a:endParaRPr sz="2126">
              <a:latin typeface="Arial"/>
              <a:ea typeface="Arial"/>
              <a:cs typeface="Arial"/>
              <a:sym typeface="Arial"/>
            </a:endParaRPr>
          </a:p>
          <a:p>
            <a:pPr indent="-363645" lvl="0" marL="457200" rtl="0" algn="l">
              <a:lnSpc>
                <a:spcPct val="115000"/>
              </a:lnSpc>
              <a:spcBef>
                <a:spcPts val="0"/>
              </a:spcBef>
              <a:spcAft>
                <a:spcPts val="0"/>
              </a:spcAft>
              <a:buSzPts val="2127"/>
              <a:buChar char="●"/>
            </a:pPr>
            <a:r>
              <a:rPr b="1" lang="en-US" sz="2126">
                <a:latin typeface="Arial"/>
                <a:ea typeface="Arial"/>
                <a:cs typeface="Arial"/>
                <a:sym typeface="Arial"/>
              </a:rPr>
              <a:t>Restricted memory</a:t>
            </a:r>
            <a:r>
              <a:rPr lang="en-US" sz="2126">
                <a:latin typeface="Arial"/>
                <a:ea typeface="Arial"/>
                <a:cs typeface="Arial"/>
                <a:sym typeface="Arial"/>
              </a:rPr>
              <a:t>: Cannot store or retrieve all required information efficiently.</a:t>
            </a:r>
            <a:endParaRPr sz="2126">
              <a:latin typeface="Arial"/>
              <a:ea typeface="Arial"/>
              <a:cs typeface="Arial"/>
              <a:sym typeface="Arial"/>
            </a:endParaRPr>
          </a:p>
          <a:p>
            <a:pPr indent="-363645" lvl="0" marL="457200" rtl="0" algn="l">
              <a:lnSpc>
                <a:spcPct val="115000"/>
              </a:lnSpc>
              <a:spcBef>
                <a:spcPts val="0"/>
              </a:spcBef>
              <a:spcAft>
                <a:spcPts val="0"/>
              </a:spcAft>
              <a:buSzPts val="2127"/>
              <a:buChar char="●"/>
            </a:pPr>
            <a:r>
              <a:rPr b="1" lang="en-US" sz="2126">
                <a:latin typeface="Arial"/>
                <a:ea typeface="Arial"/>
                <a:cs typeface="Arial"/>
                <a:sym typeface="Arial"/>
              </a:rPr>
              <a:t>Hallucination issues</a:t>
            </a:r>
            <a:r>
              <a:rPr lang="en-US" sz="2126">
                <a:latin typeface="Arial"/>
                <a:ea typeface="Arial"/>
                <a:cs typeface="Arial"/>
                <a:sym typeface="Arial"/>
              </a:rPr>
              <a:t>: Sometimes generate incorrect or misleading information.</a:t>
            </a:r>
            <a:endParaRPr sz="2126">
              <a:latin typeface="Arial"/>
              <a:ea typeface="Arial"/>
              <a:cs typeface="Arial"/>
              <a:sym typeface="Arial"/>
            </a:endParaRPr>
          </a:p>
          <a:p>
            <a:pPr indent="0" lvl="0" marL="228593" rtl="0" algn="l">
              <a:lnSpc>
                <a:spcPct val="115000"/>
              </a:lnSpc>
              <a:spcBef>
                <a:spcPts val="1200"/>
              </a:spcBef>
              <a:spcAft>
                <a:spcPts val="0"/>
              </a:spcAft>
              <a:buSzPts val="770"/>
              <a:buNone/>
            </a:pPr>
            <a:r>
              <a:t/>
            </a:r>
            <a:endParaRPr sz="1820">
              <a:latin typeface="Arial"/>
              <a:ea typeface="Arial"/>
              <a:cs typeface="Arial"/>
              <a:sym typeface="Arial"/>
            </a:endParaRPr>
          </a:p>
        </p:txBody>
      </p:sp>
      <p:sp>
        <p:nvSpPr>
          <p:cNvPr id="124" name="Google Shape;124;p17"/>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125" name="Google Shape;125;p17"/>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26" name="Google Shape;126;p17"/>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266675" y="257829"/>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sz="3800">
                <a:latin typeface="Palatino Linotype"/>
                <a:ea typeface="Palatino Linotype"/>
                <a:cs typeface="Palatino Linotype"/>
                <a:sym typeface="Palatino Linotype"/>
              </a:rPr>
              <a:t>How Fine-Tuning &amp; RAG Solve These Issues</a:t>
            </a:r>
            <a:endParaRPr sz="3800">
              <a:latin typeface="Palatino Linotype"/>
              <a:ea typeface="Palatino Linotype"/>
              <a:cs typeface="Palatino Linotype"/>
              <a:sym typeface="Palatino Linotype"/>
            </a:endParaRPr>
          </a:p>
        </p:txBody>
      </p:sp>
      <p:sp>
        <p:nvSpPr>
          <p:cNvPr id="132" name="Google Shape;132;p18"/>
          <p:cNvSpPr txBox="1"/>
          <p:nvPr>
            <p:ph idx="1" type="body"/>
          </p:nvPr>
        </p:nvSpPr>
        <p:spPr>
          <a:xfrm>
            <a:off x="338150" y="1618475"/>
            <a:ext cx="11109600" cy="5103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950">
                <a:latin typeface="Arial"/>
                <a:ea typeface="Arial"/>
                <a:cs typeface="Arial"/>
                <a:sym typeface="Arial"/>
              </a:rPr>
              <a:t>Fine-Tuning (FT)</a:t>
            </a:r>
            <a:endParaRPr b="1" sz="1950">
              <a:latin typeface="Arial"/>
              <a:ea typeface="Arial"/>
              <a:cs typeface="Arial"/>
              <a:sym typeface="Arial"/>
            </a:endParaRPr>
          </a:p>
          <a:p>
            <a:pPr indent="-352425" lvl="0" marL="457200" rtl="0" algn="l">
              <a:lnSpc>
                <a:spcPct val="115000"/>
              </a:lnSpc>
              <a:spcBef>
                <a:spcPts val="1200"/>
              </a:spcBef>
              <a:spcAft>
                <a:spcPts val="0"/>
              </a:spcAft>
              <a:buSzPts val="1950"/>
              <a:buChar char="●"/>
            </a:pPr>
            <a:r>
              <a:rPr lang="en-US" sz="1950">
                <a:latin typeface="Arial"/>
                <a:ea typeface="Arial"/>
                <a:cs typeface="Arial"/>
                <a:sym typeface="Arial"/>
              </a:rPr>
              <a:t>Adjusting the model using </a:t>
            </a:r>
            <a:r>
              <a:rPr b="1" lang="en-US" sz="1950">
                <a:latin typeface="Arial"/>
                <a:ea typeface="Arial"/>
                <a:cs typeface="Arial"/>
                <a:sym typeface="Arial"/>
              </a:rPr>
              <a:t>domain-specific datasets</a:t>
            </a:r>
            <a:r>
              <a:rPr lang="en-US" sz="1950">
                <a:latin typeface="Arial"/>
                <a:ea typeface="Arial"/>
                <a:cs typeface="Arial"/>
                <a:sym typeface="Arial"/>
              </a:rPr>
              <a:t> to improve accuracy in specialized fields.</a:t>
            </a:r>
            <a:endParaRPr sz="1950">
              <a:latin typeface="Arial"/>
              <a:ea typeface="Arial"/>
              <a:cs typeface="Arial"/>
              <a:sym typeface="Arial"/>
            </a:endParaRPr>
          </a:p>
          <a:p>
            <a:pPr indent="-352425" lvl="0" marL="457200" rtl="0" algn="l">
              <a:lnSpc>
                <a:spcPct val="115000"/>
              </a:lnSpc>
              <a:spcBef>
                <a:spcPts val="0"/>
              </a:spcBef>
              <a:spcAft>
                <a:spcPts val="0"/>
              </a:spcAft>
              <a:buSzPts val="1950"/>
              <a:buChar char="●"/>
            </a:pPr>
            <a:r>
              <a:rPr lang="en-US" sz="1950">
                <a:latin typeface="Arial"/>
                <a:ea typeface="Arial"/>
                <a:cs typeface="Arial"/>
                <a:sym typeface="Arial"/>
              </a:rPr>
              <a:t>Example: Training a model on </a:t>
            </a:r>
            <a:r>
              <a:rPr b="1" lang="en-US" sz="1950">
                <a:latin typeface="Arial"/>
                <a:ea typeface="Arial"/>
                <a:cs typeface="Arial"/>
                <a:sym typeface="Arial"/>
              </a:rPr>
              <a:t>medical research papers</a:t>
            </a:r>
            <a:r>
              <a:rPr lang="en-US" sz="1950">
                <a:latin typeface="Arial"/>
                <a:ea typeface="Arial"/>
                <a:cs typeface="Arial"/>
                <a:sym typeface="Arial"/>
              </a:rPr>
              <a:t> to improve healthcare-related responses.</a:t>
            </a:r>
            <a:endParaRPr sz="1950">
              <a:latin typeface="Arial"/>
              <a:ea typeface="Arial"/>
              <a:cs typeface="Arial"/>
              <a:sym typeface="Arial"/>
            </a:endParaRPr>
          </a:p>
          <a:p>
            <a:pPr indent="0" lvl="0" marL="0" rtl="0" algn="l">
              <a:lnSpc>
                <a:spcPct val="115000"/>
              </a:lnSpc>
              <a:spcBef>
                <a:spcPts val="1200"/>
              </a:spcBef>
              <a:spcAft>
                <a:spcPts val="0"/>
              </a:spcAft>
              <a:buNone/>
            </a:pPr>
            <a:r>
              <a:rPr b="1" lang="en-US" sz="1950">
                <a:latin typeface="Arial"/>
                <a:ea typeface="Arial"/>
                <a:cs typeface="Arial"/>
                <a:sym typeface="Arial"/>
              </a:rPr>
              <a:t>Retrieval-Augmented Generation (RAG)</a:t>
            </a:r>
            <a:endParaRPr b="1" sz="1950">
              <a:latin typeface="Arial"/>
              <a:ea typeface="Arial"/>
              <a:cs typeface="Arial"/>
              <a:sym typeface="Arial"/>
            </a:endParaRPr>
          </a:p>
          <a:p>
            <a:pPr indent="-352425" lvl="0" marL="457200" rtl="0" algn="l">
              <a:lnSpc>
                <a:spcPct val="115000"/>
              </a:lnSpc>
              <a:spcBef>
                <a:spcPts val="1200"/>
              </a:spcBef>
              <a:spcAft>
                <a:spcPts val="0"/>
              </a:spcAft>
              <a:buSzPts val="1950"/>
              <a:buChar char="●"/>
            </a:pPr>
            <a:r>
              <a:rPr lang="en-US" sz="1950">
                <a:latin typeface="Arial"/>
                <a:ea typeface="Arial"/>
                <a:cs typeface="Arial"/>
                <a:sym typeface="Arial"/>
              </a:rPr>
              <a:t>Instead of relying only on memory, RAG </a:t>
            </a:r>
            <a:r>
              <a:rPr b="1" lang="en-US" sz="1950">
                <a:latin typeface="Arial"/>
                <a:ea typeface="Arial"/>
                <a:cs typeface="Arial"/>
                <a:sym typeface="Arial"/>
              </a:rPr>
              <a:t>fetches real-time information</a:t>
            </a:r>
            <a:r>
              <a:rPr lang="en-US" sz="1950">
                <a:latin typeface="Arial"/>
                <a:ea typeface="Arial"/>
                <a:cs typeface="Arial"/>
                <a:sym typeface="Arial"/>
              </a:rPr>
              <a:t> from external sources.</a:t>
            </a:r>
            <a:endParaRPr sz="1950">
              <a:latin typeface="Arial"/>
              <a:ea typeface="Arial"/>
              <a:cs typeface="Arial"/>
              <a:sym typeface="Arial"/>
            </a:endParaRPr>
          </a:p>
          <a:p>
            <a:pPr indent="-352425" lvl="0" marL="457200" rtl="0" algn="l">
              <a:lnSpc>
                <a:spcPct val="115000"/>
              </a:lnSpc>
              <a:spcBef>
                <a:spcPts val="0"/>
              </a:spcBef>
              <a:spcAft>
                <a:spcPts val="0"/>
              </a:spcAft>
              <a:buSzPts val="1950"/>
              <a:buChar char="●"/>
            </a:pPr>
            <a:r>
              <a:rPr lang="en-US" sz="1950">
                <a:latin typeface="Arial"/>
                <a:ea typeface="Arial"/>
                <a:cs typeface="Arial"/>
                <a:sym typeface="Arial"/>
              </a:rPr>
              <a:t>Example: A legal AI assistant retrieving </a:t>
            </a:r>
            <a:r>
              <a:rPr b="1" lang="en-US" sz="1950">
                <a:latin typeface="Arial"/>
                <a:ea typeface="Arial"/>
                <a:cs typeface="Arial"/>
                <a:sym typeface="Arial"/>
              </a:rPr>
              <a:t>latest case laws</a:t>
            </a:r>
            <a:r>
              <a:rPr lang="en-US" sz="1950">
                <a:latin typeface="Arial"/>
                <a:ea typeface="Arial"/>
                <a:cs typeface="Arial"/>
                <a:sym typeface="Arial"/>
              </a:rPr>
              <a:t> before generating answers.</a:t>
            </a:r>
            <a:endParaRPr sz="1950">
              <a:latin typeface="Arial"/>
              <a:ea typeface="Arial"/>
              <a:cs typeface="Arial"/>
              <a:sym typeface="Arial"/>
            </a:endParaRPr>
          </a:p>
          <a:p>
            <a:pPr indent="0" lvl="0" marL="0" rtl="0" algn="l">
              <a:lnSpc>
                <a:spcPct val="115000"/>
              </a:lnSpc>
              <a:spcBef>
                <a:spcPts val="1200"/>
              </a:spcBef>
              <a:spcAft>
                <a:spcPts val="0"/>
              </a:spcAft>
              <a:buNone/>
            </a:pPr>
            <a:r>
              <a:rPr b="1" lang="en-US" sz="1950">
                <a:latin typeface="Arial"/>
                <a:ea typeface="Arial"/>
                <a:cs typeface="Arial"/>
                <a:sym typeface="Arial"/>
              </a:rPr>
              <a:t>Why Use Both?</a:t>
            </a:r>
            <a:endParaRPr b="1" sz="1950">
              <a:latin typeface="Arial"/>
              <a:ea typeface="Arial"/>
              <a:cs typeface="Arial"/>
              <a:sym typeface="Arial"/>
            </a:endParaRPr>
          </a:p>
          <a:p>
            <a:pPr indent="-352425" lvl="0" marL="457200" rtl="0" algn="l">
              <a:lnSpc>
                <a:spcPct val="115000"/>
              </a:lnSpc>
              <a:spcBef>
                <a:spcPts val="1200"/>
              </a:spcBef>
              <a:spcAft>
                <a:spcPts val="0"/>
              </a:spcAft>
              <a:buSzPts val="1950"/>
              <a:buChar char="●"/>
            </a:pPr>
            <a:r>
              <a:rPr b="1" lang="en-US" sz="1950">
                <a:latin typeface="Arial"/>
                <a:ea typeface="Arial"/>
                <a:cs typeface="Arial"/>
                <a:sym typeface="Arial"/>
              </a:rPr>
              <a:t>Fine-tuning</a:t>
            </a:r>
            <a:r>
              <a:rPr lang="en-US" sz="1950">
                <a:latin typeface="Arial"/>
                <a:ea typeface="Arial"/>
                <a:cs typeface="Arial"/>
                <a:sym typeface="Arial"/>
              </a:rPr>
              <a:t> improves understanding of specific fields.</a:t>
            </a:r>
            <a:endParaRPr sz="1950">
              <a:latin typeface="Arial"/>
              <a:ea typeface="Arial"/>
              <a:cs typeface="Arial"/>
              <a:sym typeface="Arial"/>
            </a:endParaRPr>
          </a:p>
          <a:p>
            <a:pPr indent="-352425" lvl="0" marL="457200" rtl="0" algn="l">
              <a:lnSpc>
                <a:spcPct val="115000"/>
              </a:lnSpc>
              <a:spcBef>
                <a:spcPts val="0"/>
              </a:spcBef>
              <a:spcAft>
                <a:spcPts val="0"/>
              </a:spcAft>
              <a:buSzPts val="1950"/>
              <a:buChar char="●"/>
            </a:pPr>
            <a:r>
              <a:rPr b="1" lang="en-US" sz="1950">
                <a:latin typeface="Arial"/>
                <a:ea typeface="Arial"/>
                <a:cs typeface="Arial"/>
                <a:sym typeface="Arial"/>
              </a:rPr>
              <a:t>RAG</a:t>
            </a:r>
            <a:r>
              <a:rPr lang="en-US" sz="1950">
                <a:latin typeface="Arial"/>
                <a:ea typeface="Arial"/>
                <a:cs typeface="Arial"/>
                <a:sym typeface="Arial"/>
              </a:rPr>
              <a:t> ensures responses stay </a:t>
            </a:r>
            <a:r>
              <a:rPr b="1" lang="en-US" sz="1950">
                <a:latin typeface="Arial"/>
                <a:ea typeface="Arial"/>
                <a:cs typeface="Arial"/>
                <a:sym typeface="Arial"/>
              </a:rPr>
              <a:t>up-to-date and fact-based</a:t>
            </a:r>
            <a:r>
              <a:rPr lang="en-US" sz="1950">
                <a:latin typeface="Arial"/>
                <a:ea typeface="Arial"/>
                <a:cs typeface="Arial"/>
                <a:sym typeface="Arial"/>
              </a:rPr>
              <a:t>.</a:t>
            </a:r>
            <a:endParaRPr sz="1950">
              <a:latin typeface="Arial"/>
              <a:ea typeface="Arial"/>
              <a:cs typeface="Arial"/>
              <a:sym typeface="Arial"/>
            </a:endParaRPr>
          </a:p>
          <a:p>
            <a:pPr indent="-352425" lvl="0" marL="457200" rtl="0" algn="l">
              <a:lnSpc>
                <a:spcPct val="115000"/>
              </a:lnSpc>
              <a:spcBef>
                <a:spcPts val="0"/>
              </a:spcBef>
              <a:spcAft>
                <a:spcPts val="0"/>
              </a:spcAft>
              <a:buSzPts val="1950"/>
              <a:buChar char="●"/>
            </a:pPr>
            <a:r>
              <a:rPr lang="en-US" sz="1950">
                <a:latin typeface="Arial"/>
                <a:ea typeface="Arial"/>
                <a:cs typeface="Arial"/>
                <a:sym typeface="Arial"/>
              </a:rPr>
              <a:t>Together, they help </a:t>
            </a:r>
            <a:r>
              <a:rPr b="1" lang="en-US" sz="1950">
                <a:latin typeface="Arial"/>
                <a:ea typeface="Arial"/>
                <a:cs typeface="Arial"/>
                <a:sym typeface="Arial"/>
              </a:rPr>
              <a:t>bridge knowledge gaps</a:t>
            </a:r>
            <a:r>
              <a:rPr lang="en-US" sz="1950">
                <a:latin typeface="Arial"/>
                <a:ea typeface="Arial"/>
                <a:cs typeface="Arial"/>
                <a:sym typeface="Arial"/>
              </a:rPr>
              <a:t> and </a:t>
            </a:r>
            <a:r>
              <a:rPr b="1" lang="en-US" sz="1950">
                <a:latin typeface="Arial"/>
                <a:ea typeface="Arial"/>
                <a:cs typeface="Arial"/>
                <a:sym typeface="Arial"/>
              </a:rPr>
              <a:t>reduce misinformation</a:t>
            </a:r>
            <a:r>
              <a:rPr lang="en-US" sz="1950">
                <a:latin typeface="Arial"/>
                <a:ea typeface="Arial"/>
                <a:cs typeface="Arial"/>
                <a:sym typeface="Arial"/>
              </a:rPr>
              <a:t> in AI models.</a:t>
            </a:r>
            <a:endParaRPr sz="1950">
              <a:latin typeface="Arial"/>
              <a:ea typeface="Arial"/>
              <a:cs typeface="Arial"/>
              <a:sym typeface="Arial"/>
            </a:endParaRPr>
          </a:p>
          <a:p>
            <a:pPr indent="0" lvl="0" marL="228593" rtl="0" algn="l">
              <a:lnSpc>
                <a:spcPct val="115000"/>
              </a:lnSpc>
              <a:spcBef>
                <a:spcPts val="1200"/>
              </a:spcBef>
              <a:spcAft>
                <a:spcPts val="0"/>
              </a:spcAft>
              <a:buNone/>
            </a:pPr>
            <a:r>
              <a:t/>
            </a:r>
            <a:endParaRPr sz="1850">
              <a:latin typeface="Palatino Linotype"/>
              <a:ea typeface="Palatino Linotype"/>
              <a:cs typeface="Palatino Linotype"/>
              <a:sym typeface="Palatino Linotype"/>
            </a:endParaRPr>
          </a:p>
        </p:txBody>
      </p:sp>
      <p:sp>
        <p:nvSpPr>
          <p:cNvPr id="133" name="Google Shape;133;p18"/>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134" name="Google Shape;134;p18"/>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35" name="Google Shape;135;p18"/>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41" name="Google Shape;14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latin typeface="Palatino Linotype"/>
                <a:ea typeface="Palatino Linotype"/>
                <a:cs typeface="Palatino Linotype"/>
                <a:sym typeface="Palatino Linotype"/>
              </a:rPr>
              <a:t>[1] This paper proposes a crop selection method to maximize crop yield based on weather and soil parameters.</a:t>
            </a:r>
            <a:endParaRPr/>
          </a:p>
          <a:p>
            <a:pPr indent="0" lvl="0" marL="0" rtl="0" algn="l">
              <a:lnSpc>
                <a:spcPct val="90000"/>
              </a:lnSpc>
              <a:spcBef>
                <a:spcPts val="1000"/>
              </a:spcBef>
              <a:spcAft>
                <a:spcPts val="0"/>
              </a:spcAft>
              <a:buClr>
                <a:schemeClr val="dk1"/>
              </a:buClr>
              <a:buSzPts val="2800"/>
              <a:buNone/>
            </a:pPr>
            <a:r>
              <a:rPr lang="en-US">
                <a:latin typeface="Palatino Linotype"/>
                <a:ea typeface="Palatino Linotype"/>
                <a:cs typeface="Palatino Linotype"/>
                <a:sym typeface="Palatino Linotype"/>
              </a:rPr>
              <a:t>It also suggests the proper sowing time for suitable crops using seasonal weather forecasting.</a:t>
            </a:r>
            <a:endParaRPr/>
          </a:p>
          <a:p>
            <a:pPr indent="0" lvl="0" marL="0" rtl="0" algn="l">
              <a:lnSpc>
                <a:spcPct val="90000"/>
              </a:lnSpc>
              <a:spcBef>
                <a:spcPts val="1000"/>
              </a:spcBef>
              <a:spcAft>
                <a:spcPts val="0"/>
              </a:spcAft>
              <a:buClr>
                <a:schemeClr val="dk1"/>
              </a:buClr>
              <a:buSzPts val="2800"/>
              <a:buNone/>
            </a:pPr>
            <a:r>
              <a:rPr lang="en-US">
                <a:latin typeface="Palatino Linotype"/>
                <a:ea typeface="Palatino Linotype"/>
                <a:cs typeface="Palatino Linotype"/>
                <a:sym typeface="Palatino Linotype"/>
              </a:rPr>
              <a:t>Machine learning algorithms such as Recurrent neural network is used for weather prediction, and Random forest classification algorithm is used to select suitable crops.</a:t>
            </a:r>
            <a:endParaRPr/>
          </a:p>
          <a:p>
            <a:pPr indent="0" lvl="0" marL="0" rtl="0" algn="l">
              <a:lnSpc>
                <a:spcPct val="90000"/>
              </a:lnSpc>
              <a:spcBef>
                <a:spcPts val="1000"/>
              </a:spcBef>
              <a:spcAft>
                <a:spcPts val="0"/>
              </a:spcAft>
              <a:buClr>
                <a:schemeClr val="dk1"/>
              </a:buClr>
              <a:buSzPts val="2800"/>
              <a:buNone/>
            </a:pPr>
            <a:r>
              <a:rPr lang="en-US">
                <a:latin typeface="Palatino Linotype"/>
                <a:ea typeface="Palatino Linotype"/>
                <a:cs typeface="Palatino Linotype"/>
                <a:sym typeface="Palatino Linotype"/>
              </a:rPr>
              <a:t>The result of proposed weather forecasting technique is compared with conventional Artificial neural network, which shows better performance results for each selected weather parameters.</a:t>
            </a:r>
            <a:endParaRPr/>
          </a:p>
        </p:txBody>
      </p:sp>
      <p:sp>
        <p:nvSpPr>
          <p:cNvPr id="142" name="Google Shape;142;p19"/>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43" name="Google Shape;143;p19"/>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44" name="Google Shape;144;p19"/>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0"/>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50" name="Google Shape;15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[2] To overcome various issues of farmers and agriculture, this research work has proposed a system to assist the farmers in crop selection by considering all the factors like sowing season, soil, and geographical location. Furthermore, precision agriculture is being implemented with a modern agricultural technology and it is evolving in developing countries that concentrates on site-specific crop management.</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[3] These recommendation concepts are used in agriculture in this paper to provide crops to sow. Simple Data Analytics is used on crop dataset and personalization of agricultural crops are suggested to famers. Essential parameter for agriculture analysis is nature of soil. Crops are cultivated depending on the type of soil in the land. Data mining techniques are applied to analyze the soil parameter.</a:t>
            </a:r>
            <a:endParaRPr>
              <a:latin typeface="Palatino Linotype"/>
              <a:ea typeface="Palatino Linotype"/>
              <a:cs typeface="Palatino Linotype"/>
              <a:sym typeface="Palatino Linotype"/>
            </a:endParaRPr>
          </a:p>
        </p:txBody>
      </p:sp>
      <p:sp>
        <p:nvSpPr>
          <p:cNvPr id="151" name="Google Shape;151;p20"/>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52" name="Google Shape;152;p20"/>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53" name="Google Shape;153;p20"/>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59" name="Google Shape;15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[4] Data mining in agriculture is used for analyzing the various biotic and abiotic factors. problem of the farmers has been addressed through precision agriculture.</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Precision agriculture is a modern farming technique that uses research data of soil characteristics, soil types, crop yield data collection and suggests the farmers the right crop based on their site-specific parameters</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.In this paper, this problem is solved by proposing a recommendation system through an ensemble model with majority voting technique using Random tree, CHAID, K-Nearest Neighbor and Naive Bayes as learners to recommend a crop for the site-specific parameters with high accuracy and efficiency.</a:t>
            </a:r>
            <a:endParaRPr/>
          </a:p>
        </p:txBody>
      </p:sp>
      <p:sp>
        <p:nvSpPr>
          <p:cNvPr id="160" name="Google Shape;160;p21"/>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61" name="Google Shape;161;p21"/>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62" name="Google Shape;162;p21"/>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68" name="Google Shape;168;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[5] To increase the crop yield, the proposed methodology exploits all the soil micro and macronutrients of the soil to predict the crop suitability for a region.</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During the data categorization, beyond rough set, the fuzzy logic is used to handle the boundary values of the numerical features to improve the accuracy of the prediction.</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A rough set-based rule induction method is used to generate the rules, and the crop suitability is predicted according to the fuzzy rules. The results are benchmarked with algorithms like CN2, LEM2, AQ, and Indiscernibility. </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The discretized and fuzzified datasets are considered for experimental purposes. </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The performance of the algorithms is evaluated based on the different evaluation parameters like precision, recall, f1 score, and accuracy. </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The experimental results proved that fuzzy rules evolved by the LEM2 algorithm give higher prediction accuracy when compared to other algorithms for both the discretized and fuzzified datasets.</a:t>
            </a:r>
            <a:endParaRPr/>
          </a:p>
        </p:txBody>
      </p:sp>
      <p:sp>
        <p:nvSpPr>
          <p:cNvPr id="169" name="Google Shape;169;p22"/>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70" name="Google Shape;170;p22"/>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71" name="Google Shape;171;p22"/>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77" name="Google Shape;17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[6] Selecting crops for cultivation relies on variety of parameters which includes weather condition, soil property and government policies. </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The suggested system helps the farmers to select suitable crop based on season and region of sowing.</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It will in-turn help the farmers by improving the net profit to them.</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By considering different datasets with respect to five parameters such as rainfall, temperature, slope, humidity and soil moisture of horticulture data, the system builds a model or method using which can suggest list of crops which is mainly helpful for the farmers in his/her decision making.</a:t>
            </a:r>
            <a:endParaRPr/>
          </a:p>
        </p:txBody>
      </p:sp>
      <p:sp>
        <p:nvSpPr>
          <p:cNvPr id="178" name="Google Shape;178;p23"/>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79" name="Google Shape;179;p23"/>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80" name="Google Shape;180;p23"/>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4"/>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86" name="Google Shape;186;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[7] Agricultural crop production depends on various factors such as biology, climate, economy and geography. Several factors have different impacts on agriculture, which can be quantified using appropriate statistical methodologies.</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Applying such methodologies and techniques on historical yield of crops, it is possible to obtain information or knowledge which can be helpful to farmers and government organizations for making better decisions and policies which lead to increased production.</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In this paper, the focus is on application of data mining techniques to extract knowledge from the agricultural data to estimate crop yield for major cereal crops in major districts of Bangladesh.</a:t>
            </a:r>
            <a:endParaRPr/>
          </a:p>
        </p:txBody>
      </p:sp>
      <p:sp>
        <p:nvSpPr>
          <p:cNvPr id="187" name="Google Shape;187;p24"/>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88" name="Google Shape;188;p24"/>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89" name="Google Shape;189;p24"/>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195" name="Google Shape;19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Palatino Linotype"/>
                <a:ea typeface="Palatino Linotype"/>
                <a:cs typeface="Palatino Linotype"/>
                <a:sym typeface="Palatino Linotype"/>
              </a:rPr>
              <a:t>[8] Many researchers studied prediction of yield rate of crop, prediction of weather, soil classification and crop classification for agriculture planning using statistics methods or machine learning techniques.</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If there is more than one option to plant a crop at a time using limited land resource, then selection of crop is a puzzle. This paper proposed a method named Crop Selection Method (CSM) to solve crop selection problem</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It helps maximize net yield rate of crop over season and subsequently achieves maximum economic growth of the country.</a:t>
            </a:r>
            <a:endParaRPr/>
          </a:p>
          <a:p>
            <a:pPr indent="0" lvl="0" marL="0" rtl="0" algn="l">
              <a:lnSpc>
                <a:spcPct val="90000"/>
              </a:lnSpc>
              <a:spcBef>
                <a:spcPts val="1000"/>
              </a:spcBef>
              <a:spcAft>
                <a:spcPts val="0"/>
              </a:spcAft>
              <a:buClr>
                <a:schemeClr val="dk1"/>
              </a:buClr>
              <a:buSzPct val="100000"/>
              <a:buNone/>
            </a:pPr>
            <a:r>
              <a:rPr lang="en-US">
                <a:latin typeface="Palatino Linotype"/>
                <a:ea typeface="Palatino Linotype"/>
                <a:cs typeface="Palatino Linotype"/>
                <a:sym typeface="Palatino Linotype"/>
              </a:rPr>
              <a:t>The proposed method may improve net yield rate of crops.</a:t>
            </a:r>
            <a:endParaRPr/>
          </a:p>
        </p:txBody>
      </p:sp>
      <p:sp>
        <p:nvSpPr>
          <p:cNvPr id="196" name="Google Shape;196;p25"/>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197" name="Google Shape;197;p25"/>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198" name="Google Shape;198;p25"/>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204" name="Google Shape;204;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Palatino Linotype"/>
                <a:ea typeface="Palatino Linotype"/>
                <a:cs typeface="Palatino Linotype"/>
                <a:sym typeface="Palatino Linotype"/>
              </a:rPr>
              <a:t>[9] Crop yield prediction incorporates forecasting the yield of the crop from past historical data which includes factors such as temperature, humidity, ph, rainfall, crop name.</a:t>
            </a:r>
            <a:endParaRPr/>
          </a:p>
          <a:p>
            <a:pPr indent="0" lvl="0" marL="0" rtl="0" algn="l">
              <a:lnSpc>
                <a:spcPct val="90000"/>
              </a:lnSpc>
              <a:spcBef>
                <a:spcPts val="1000"/>
              </a:spcBef>
              <a:spcAft>
                <a:spcPts val="0"/>
              </a:spcAft>
              <a:buClr>
                <a:schemeClr val="dk1"/>
              </a:buClr>
              <a:buSzPts val="2800"/>
              <a:buNone/>
            </a:pPr>
            <a:r>
              <a:rPr lang="en-US">
                <a:latin typeface="Palatino Linotype"/>
                <a:ea typeface="Palatino Linotype"/>
                <a:cs typeface="Palatino Linotype"/>
                <a:sym typeface="Palatino Linotype"/>
              </a:rPr>
              <a:t>It gives us an idea for the finest predicted crop which will be cultivate in the field weather conditions. These predictions can be done by a machine learning algorithm called Random Forest.</a:t>
            </a:r>
            <a:endParaRPr/>
          </a:p>
          <a:p>
            <a:pPr indent="0" lvl="0" marL="0" rtl="0" algn="l">
              <a:lnSpc>
                <a:spcPct val="90000"/>
              </a:lnSpc>
              <a:spcBef>
                <a:spcPts val="1000"/>
              </a:spcBef>
              <a:spcAft>
                <a:spcPts val="0"/>
              </a:spcAft>
              <a:buClr>
                <a:schemeClr val="dk1"/>
              </a:buClr>
              <a:buSzPts val="2800"/>
              <a:buNone/>
            </a:pPr>
            <a:r>
              <a:rPr lang="en-US">
                <a:latin typeface="Palatino Linotype"/>
                <a:ea typeface="Palatino Linotype"/>
                <a:cs typeface="Palatino Linotype"/>
                <a:sym typeface="Palatino Linotype"/>
              </a:rPr>
              <a:t> The algorithm random forest is used to give the best crop yield model by considering least number of models. </a:t>
            </a:r>
            <a:endParaRPr/>
          </a:p>
        </p:txBody>
      </p:sp>
      <p:sp>
        <p:nvSpPr>
          <p:cNvPr id="205" name="Google Shape;205;p26"/>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06" name="Google Shape;206;p26"/>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07" name="Google Shape;207;p26"/>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Literature Review</a:t>
            </a:r>
            <a:endParaRPr/>
          </a:p>
        </p:txBody>
      </p:sp>
      <p:sp>
        <p:nvSpPr>
          <p:cNvPr id="213" name="Google Shape;21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latin typeface="Palatino Linotype"/>
                <a:ea typeface="Palatino Linotype"/>
                <a:cs typeface="Palatino Linotype"/>
                <a:sym typeface="Palatino Linotype"/>
              </a:rPr>
              <a:t>[10] A combination of Big Data Analytics and Machine Learning can effectively help alleviate this issue. In this paper an intelligent system, called AgroConsultant is presented, which intends to assist the Indian farmers in making an informed decision about which crop to grow depending on the sowing season, his farm’s geographical location, soil characteristics as well as environmental factors such as temperature and rainfall.</a:t>
            </a:r>
            <a:endParaRPr/>
          </a:p>
        </p:txBody>
      </p:sp>
      <p:sp>
        <p:nvSpPr>
          <p:cNvPr id="214" name="Google Shape;214;p27"/>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15" name="Google Shape;215;p27"/>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16" name="Google Shape;216;p27"/>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Problem Statement</a:t>
            </a:r>
            <a:endParaRPr/>
          </a:p>
        </p:txBody>
      </p:sp>
      <p:sp>
        <p:nvSpPr>
          <p:cNvPr id="222" name="Google Shape;22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2800"/>
              <a:buNone/>
            </a:pPr>
            <a:r>
              <a:rPr lang="en-US" sz="2200">
                <a:latin typeface="Arial"/>
                <a:ea typeface="Arial"/>
                <a:cs typeface="Arial"/>
                <a:sym typeface="Arial"/>
              </a:rPr>
              <a:t>7B language models often struggle with domain-specific tasks due to limited training, contextual gaps, and hallucination issues, reducing their accuracy and reliability. This project aims to explore Fine-Tuning to enhance specialized knowledge and Retrieval-Augmented Generation (RAG) to improve real-time information retrieval, aiming to make these models more precise, adaptable, and effective across various domains.</a:t>
            </a:r>
            <a:endParaRPr sz="4900"/>
          </a:p>
        </p:txBody>
      </p:sp>
      <p:sp>
        <p:nvSpPr>
          <p:cNvPr id="223" name="Google Shape;223;p28"/>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224" name="Google Shape;224;p28"/>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25" name="Google Shape;225;p28"/>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Objectives</a:t>
            </a:r>
            <a:endParaRPr>
              <a:latin typeface="Palatino Linotype"/>
              <a:ea typeface="Palatino Linotype"/>
              <a:cs typeface="Palatino Linotype"/>
              <a:sym typeface="Palatino Linotype"/>
            </a:endParaRPr>
          </a:p>
        </p:txBody>
      </p:sp>
      <p:sp>
        <p:nvSpPr>
          <p:cNvPr id="231" name="Google Shape;23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61950" lvl="0" marL="457200" rtl="0" algn="l">
              <a:lnSpc>
                <a:spcPct val="150000"/>
              </a:lnSpc>
              <a:spcBef>
                <a:spcPts val="1000"/>
              </a:spcBef>
              <a:spcAft>
                <a:spcPts val="0"/>
              </a:spcAft>
              <a:buSzPts val="2100"/>
              <a:buFont typeface="Arial"/>
              <a:buAutoNum type="arabicPeriod"/>
            </a:pPr>
            <a:r>
              <a:rPr lang="en-US" sz="2100">
                <a:latin typeface="Arial"/>
                <a:ea typeface="Arial"/>
                <a:cs typeface="Arial"/>
                <a:sym typeface="Arial"/>
              </a:rPr>
              <a:t>Explore and document the limitations of an open-source 7B language model (e.g., Llama 2 7B, Mistral 7B) in knowledge-intensive tasks through practical testing.</a:t>
            </a:r>
            <a:endParaRPr sz="2100">
              <a:latin typeface="Arial"/>
              <a:ea typeface="Arial"/>
              <a:cs typeface="Arial"/>
              <a:sym typeface="Arial"/>
            </a:endParaRPr>
          </a:p>
          <a:p>
            <a:pPr indent="-361950" lvl="0" marL="457200" rtl="0" algn="l">
              <a:lnSpc>
                <a:spcPct val="150000"/>
              </a:lnSpc>
              <a:spcBef>
                <a:spcPts val="0"/>
              </a:spcBef>
              <a:spcAft>
                <a:spcPts val="0"/>
              </a:spcAft>
              <a:buSzPts val="2100"/>
              <a:buFont typeface="Arial"/>
              <a:buAutoNum type="arabicPeriod"/>
            </a:pPr>
            <a:r>
              <a:rPr lang="en-US" sz="2100">
                <a:latin typeface="Arial"/>
                <a:ea typeface="Arial"/>
                <a:cs typeface="Arial"/>
                <a:sym typeface="Arial"/>
              </a:rPr>
              <a:t>Implement a basic domain-specific fine-tuning procedure on a 7B model using a modest dataset in a selected field like computer science or healthcare.</a:t>
            </a:r>
            <a:endParaRPr sz="2100">
              <a:latin typeface="Arial"/>
              <a:ea typeface="Arial"/>
              <a:cs typeface="Arial"/>
              <a:sym typeface="Arial"/>
            </a:endParaRPr>
          </a:p>
          <a:p>
            <a:pPr indent="-361950" lvl="0" marL="457200" rtl="0" algn="l">
              <a:lnSpc>
                <a:spcPct val="150000"/>
              </a:lnSpc>
              <a:spcBef>
                <a:spcPts val="0"/>
              </a:spcBef>
              <a:spcAft>
                <a:spcPts val="0"/>
              </a:spcAft>
              <a:buSzPts val="2100"/>
              <a:buFont typeface="Arial"/>
              <a:buAutoNum type="arabicPeriod"/>
            </a:pPr>
            <a:r>
              <a:rPr lang="en-US" sz="2100">
                <a:latin typeface="Arial"/>
                <a:ea typeface="Arial"/>
                <a:cs typeface="Arial"/>
                <a:sym typeface="Arial"/>
              </a:rPr>
              <a:t>Develop a simple Retrieval-Augmented Generation (RAG) system that connects the model to external knowledge sources using vector databases.</a:t>
            </a:r>
            <a:endParaRPr sz="2100">
              <a:latin typeface="Arial"/>
              <a:ea typeface="Arial"/>
              <a:cs typeface="Arial"/>
              <a:sym typeface="Arial"/>
            </a:endParaRPr>
          </a:p>
          <a:p>
            <a:pPr indent="-361950" lvl="0" marL="457200" rtl="0" algn="l">
              <a:lnSpc>
                <a:spcPct val="150000"/>
              </a:lnSpc>
              <a:spcBef>
                <a:spcPts val="0"/>
              </a:spcBef>
              <a:spcAft>
                <a:spcPts val="0"/>
              </a:spcAft>
              <a:buSzPts val="2100"/>
              <a:buFont typeface="Arial"/>
              <a:buAutoNum type="arabicPeriod"/>
            </a:pPr>
            <a:r>
              <a:rPr lang="en-US" sz="2100">
                <a:latin typeface="Arial"/>
                <a:ea typeface="Arial"/>
                <a:cs typeface="Arial"/>
                <a:sym typeface="Arial"/>
              </a:rPr>
              <a:t>Compare the performance of the baseline model, fine-tuned model, and RAG-enhanced model on a small set of evaluation tasks.</a:t>
            </a:r>
            <a:endParaRPr sz="2100">
              <a:latin typeface="Arial"/>
              <a:ea typeface="Arial"/>
              <a:cs typeface="Arial"/>
              <a:sym typeface="Arial"/>
            </a:endParaRPr>
          </a:p>
          <a:p>
            <a:pPr indent="0" lvl="0" marL="228593" rtl="0" algn="l">
              <a:lnSpc>
                <a:spcPct val="90000"/>
              </a:lnSpc>
              <a:spcBef>
                <a:spcPts val="1000"/>
              </a:spcBef>
              <a:spcAft>
                <a:spcPts val="0"/>
              </a:spcAft>
              <a:buNone/>
            </a:pPr>
            <a:r>
              <a:t/>
            </a:r>
            <a:endParaRPr sz="2100">
              <a:latin typeface="Arial"/>
              <a:ea typeface="Arial"/>
              <a:cs typeface="Arial"/>
              <a:sym typeface="Arial"/>
            </a:endParaRPr>
          </a:p>
        </p:txBody>
      </p:sp>
      <p:sp>
        <p:nvSpPr>
          <p:cNvPr id="232" name="Google Shape;232;p29"/>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233" name="Google Shape;233;p29"/>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34" name="Google Shape;234;p29"/>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Methodology</a:t>
            </a:r>
            <a:endParaRPr/>
          </a:p>
        </p:txBody>
      </p:sp>
      <p:sp>
        <p:nvSpPr>
          <p:cNvPr id="240" name="Google Shape;240;p30"/>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241" name="Google Shape;241;p30"/>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42" name="Google Shape;242;p30"/>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pic>
        <p:nvPicPr>
          <p:cNvPr id="243" name="Google Shape;243;p30"/>
          <p:cNvPicPr preferRelativeResize="0"/>
          <p:nvPr/>
        </p:nvPicPr>
        <p:blipFill>
          <a:blip r:embed="rId3">
            <a:alphaModFix/>
          </a:blip>
          <a:stretch>
            <a:fillRect/>
          </a:stretch>
        </p:blipFill>
        <p:spPr>
          <a:xfrm>
            <a:off x="1695475" y="1571625"/>
            <a:ext cx="8948724" cy="4784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Methodology</a:t>
            </a:r>
            <a:endParaRPr/>
          </a:p>
        </p:txBody>
      </p:sp>
      <p:sp>
        <p:nvSpPr>
          <p:cNvPr id="249" name="Google Shape;249;p31"/>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50" name="Google Shape;250;p31"/>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51" name="Google Shape;251;p31"/>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
        <p:nvSpPr>
          <p:cNvPr id="252" name="Google Shape;252;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361950" lvl="0" marL="457200" rtl="0" algn="l">
              <a:lnSpc>
                <a:spcPct val="115000"/>
              </a:lnSpc>
              <a:spcBef>
                <a:spcPts val="500"/>
              </a:spcBef>
              <a:spcAft>
                <a:spcPts val="0"/>
              </a:spcAft>
              <a:buSzPts val="2100"/>
              <a:buAutoNum type="arabicPeriod"/>
            </a:pPr>
            <a:r>
              <a:rPr b="1" lang="en-US" sz="2100">
                <a:latin typeface="Arial"/>
                <a:ea typeface="Arial"/>
                <a:cs typeface="Arial"/>
                <a:sym typeface="Arial"/>
              </a:rPr>
              <a:t>Data Collection &amp; Preprocessing</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Gather high-quality domain-specific datasets and academic materials.</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Annotate with chain-of-thought examples for complex reasoning.</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Preprocess by cleaning, formatting, and splitting data into training, validation, and test sets.</a:t>
            </a:r>
            <a:endParaRPr sz="2100">
              <a:latin typeface="Arial"/>
              <a:ea typeface="Arial"/>
              <a:cs typeface="Arial"/>
              <a:sym typeface="Arial"/>
            </a:endParaRPr>
          </a:p>
          <a:p>
            <a:pPr indent="0" lvl="0" marL="0" rtl="0" algn="l">
              <a:lnSpc>
                <a:spcPct val="115000"/>
              </a:lnSpc>
              <a:spcBef>
                <a:spcPts val="1200"/>
              </a:spcBef>
              <a:spcAft>
                <a:spcPts val="0"/>
              </a:spcAft>
              <a:buNone/>
            </a:pPr>
            <a:r>
              <a:rPr lang="en-US" sz="2100">
                <a:latin typeface="Arial"/>
                <a:ea typeface="Arial"/>
                <a:cs typeface="Arial"/>
                <a:sym typeface="Arial"/>
              </a:rPr>
              <a:t>2.    </a:t>
            </a:r>
            <a:r>
              <a:rPr b="1" lang="en-US" sz="2100">
                <a:latin typeface="Arial"/>
                <a:ea typeface="Arial"/>
                <a:cs typeface="Arial"/>
                <a:sym typeface="Arial"/>
              </a:rPr>
              <a:t> Fine-Tuning the 7B Model</a:t>
            </a:r>
            <a:br>
              <a:rPr lang="en-US" sz="2100">
                <a:latin typeface="Arial"/>
                <a:ea typeface="Arial"/>
                <a:cs typeface="Arial"/>
                <a:sym typeface="Arial"/>
              </a:rPr>
            </a:br>
            <a:endParaRPr sz="2100">
              <a:latin typeface="Arial"/>
              <a:ea typeface="Arial"/>
              <a:cs typeface="Arial"/>
              <a:sym typeface="Arial"/>
            </a:endParaRPr>
          </a:p>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Adapt the pre-trained 7B model to the curated dataset.</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Train with chain-of-thought prompts to improve reasoning.</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Use LoRA or adapter modules for efficient fine-tuning while retaining generalization.</a:t>
            </a:r>
            <a:endParaRPr sz="2100">
              <a:latin typeface="Arial"/>
              <a:ea typeface="Arial"/>
              <a:cs typeface="Arial"/>
              <a:sym typeface="Arial"/>
            </a:endParaRPr>
          </a:p>
          <a:p>
            <a:pPr indent="0" lvl="0" marL="0" rtl="0" algn="l">
              <a:lnSpc>
                <a:spcPct val="90000"/>
              </a:lnSpc>
              <a:spcBef>
                <a:spcPts val="1200"/>
              </a:spcBef>
              <a:spcAft>
                <a:spcPts val="0"/>
              </a:spcAft>
              <a:buNone/>
            </a:pPr>
            <a:r>
              <a:t/>
            </a:r>
            <a:endParaRPr sz="2800">
              <a:latin typeface="Palatino Linotype"/>
              <a:ea typeface="Palatino Linotype"/>
              <a:cs typeface="Palatino Linotype"/>
              <a:sym typeface="Palatino Linotyp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type="title"/>
          </p:nvPr>
        </p:nvSpPr>
        <p:spPr>
          <a:xfrm>
            <a:off x="838200" y="365129"/>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Methodology</a:t>
            </a:r>
            <a:endParaRPr/>
          </a:p>
        </p:txBody>
      </p:sp>
      <p:sp>
        <p:nvSpPr>
          <p:cNvPr id="258" name="Google Shape;258;p32"/>
          <p:cNvSpPr txBox="1"/>
          <p:nvPr>
            <p:ph idx="10" type="dt"/>
          </p:nvPr>
        </p:nvSpPr>
        <p:spPr>
          <a:xfrm>
            <a:off x="838200" y="6356356"/>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59" name="Google Shape;259;p32"/>
          <p:cNvSpPr txBox="1"/>
          <p:nvPr>
            <p:ph idx="11" type="ftr"/>
          </p:nvPr>
        </p:nvSpPr>
        <p:spPr>
          <a:xfrm>
            <a:off x="4038600" y="6356356"/>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60" name="Google Shape;260;p32"/>
          <p:cNvSpPr txBox="1"/>
          <p:nvPr>
            <p:ph idx="12" type="sldNum"/>
          </p:nvPr>
        </p:nvSpPr>
        <p:spPr>
          <a:xfrm>
            <a:off x="8610600" y="6356356"/>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
        <p:nvSpPr>
          <p:cNvPr id="261" name="Google Shape;261;p32"/>
          <p:cNvSpPr txBox="1"/>
          <p:nvPr>
            <p:ph idx="1" type="body"/>
          </p:nvPr>
        </p:nvSpPr>
        <p:spPr>
          <a:xfrm>
            <a:off x="838200" y="16908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500"/>
              </a:spcBef>
              <a:spcAft>
                <a:spcPts val="0"/>
              </a:spcAft>
              <a:buClr>
                <a:schemeClr val="dk1"/>
              </a:buClr>
              <a:buSzPts val="1100"/>
              <a:buFont typeface="Arial"/>
              <a:buNone/>
            </a:pPr>
            <a:r>
              <a:rPr b="1" lang="en-US" sz="2100">
                <a:latin typeface="Arial"/>
                <a:ea typeface="Arial"/>
                <a:cs typeface="Arial"/>
                <a:sym typeface="Arial"/>
              </a:rPr>
              <a:t>3.Retrieval-Augmented Generation (RAG) Integration</a:t>
            </a:r>
            <a:br>
              <a:rPr b="1" lang="en-US" sz="2100">
                <a:latin typeface="Arial"/>
                <a:ea typeface="Arial"/>
                <a:cs typeface="Arial"/>
                <a:sym typeface="Arial"/>
              </a:rPr>
            </a:br>
            <a:endParaRPr b="1" sz="2100">
              <a:latin typeface="Arial"/>
              <a:ea typeface="Arial"/>
              <a:cs typeface="Arial"/>
              <a:sym typeface="Arial"/>
            </a:endParaRPr>
          </a:p>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Deploy a vector-based retrieval system (e.g., FAISS, Pinecone).</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Develop a hybrid pipeline where retrieved documents supplement model output.</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Implement response merging to refine and enhance generated responses.</a:t>
            </a:r>
            <a:endParaRPr sz="2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2100">
                <a:latin typeface="Arial"/>
                <a:ea typeface="Arial"/>
                <a:cs typeface="Arial"/>
                <a:sym typeface="Arial"/>
              </a:rPr>
              <a:t>4.Evaluation &amp; Iteration</a:t>
            </a:r>
            <a:br>
              <a:rPr b="1" lang="en-US" sz="2100">
                <a:latin typeface="Arial"/>
                <a:ea typeface="Arial"/>
                <a:cs typeface="Arial"/>
                <a:sym typeface="Arial"/>
              </a:rPr>
            </a:br>
            <a:endParaRPr b="1" sz="2100">
              <a:latin typeface="Arial"/>
              <a:ea typeface="Arial"/>
              <a:cs typeface="Arial"/>
              <a:sym typeface="Arial"/>
            </a:endParaRPr>
          </a:p>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Test the system on knowledge-intensive queries using accuracy and relevance metrics.</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Implement a feedback loop for continuous model and retrieval improvements.</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Regularly update fine-tuning and retrieval mechanisms for evolving needs.</a:t>
            </a:r>
            <a:endParaRPr sz="2100">
              <a:latin typeface="Arial"/>
              <a:ea typeface="Arial"/>
              <a:cs typeface="Arial"/>
              <a:sym typeface="Arial"/>
            </a:endParaRPr>
          </a:p>
          <a:p>
            <a:pPr indent="0" lvl="0" marL="0" rtl="0" algn="l">
              <a:lnSpc>
                <a:spcPct val="90000"/>
              </a:lnSpc>
              <a:spcBef>
                <a:spcPts val="1200"/>
              </a:spcBef>
              <a:spcAft>
                <a:spcPts val="0"/>
              </a:spcAft>
              <a:buNone/>
            </a:pPr>
            <a:r>
              <a:t/>
            </a:r>
            <a:endParaRPr b="1" sz="21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838200" y="365129"/>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Methodology</a:t>
            </a:r>
            <a:endParaRPr/>
          </a:p>
        </p:txBody>
      </p:sp>
      <p:sp>
        <p:nvSpPr>
          <p:cNvPr id="267" name="Google Shape;267;p33"/>
          <p:cNvSpPr txBox="1"/>
          <p:nvPr>
            <p:ph idx="10" type="dt"/>
          </p:nvPr>
        </p:nvSpPr>
        <p:spPr>
          <a:xfrm>
            <a:off x="838200" y="6356356"/>
            <a:ext cx="2743200" cy="365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68" name="Google Shape;268;p33"/>
          <p:cNvSpPr txBox="1"/>
          <p:nvPr>
            <p:ph idx="11" type="ftr"/>
          </p:nvPr>
        </p:nvSpPr>
        <p:spPr>
          <a:xfrm>
            <a:off x="4038600" y="6356356"/>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69" name="Google Shape;269;p33"/>
          <p:cNvSpPr txBox="1"/>
          <p:nvPr>
            <p:ph idx="12" type="sldNum"/>
          </p:nvPr>
        </p:nvSpPr>
        <p:spPr>
          <a:xfrm>
            <a:off x="8610600" y="6356356"/>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
        <p:nvSpPr>
          <p:cNvPr id="270" name="Google Shape;270;p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500"/>
              </a:spcBef>
              <a:spcAft>
                <a:spcPts val="0"/>
              </a:spcAft>
              <a:buClr>
                <a:schemeClr val="dk1"/>
              </a:buClr>
              <a:buSzPts val="1100"/>
              <a:buFont typeface="Arial"/>
              <a:buNone/>
            </a:pPr>
            <a:r>
              <a:rPr b="1" lang="en-US" sz="2100">
                <a:latin typeface="Arial"/>
                <a:ea typeface="Arial"/>
                <a:cs typeface="Arial"/>
                <a:sym typeface="Arial"/>
              </a:rPr>
              <a:t>5.Deploying the System</a:t>
            </a:r>
            <a:endParaRPr b="1" sz="2100">
              <a:latin typeface="Arial"/>
              <a:ea typeface="Arial"/>
              <a:cs typeface="Arial"/>
              <a:sym typeface="Arial"/>
            </a:endParaRPr>
          </a:p>
          <a:p>
            <a:pPr indent="-361950" lvl="0" marL="457200" rtl="0" algn="l">
              <a:lnSpc>
                <a:spcPct val="115000"/>
              </a:lnSpc>
              <a:spcBef>
                <a:spcPts val="1200"/>
              </a:spcBef>
              <a:spcAft>
                <a:spcPts val="0"/>
              </a:spcAft>
              <a:buSzPts val="2100"/>
              <a:buChar char="●"/>
            </a:pPr>
            <a:r>
              <a:rPr lang="en-US" sz="2100">
                <a:latin typeface="Arial"/>
                <a:ea typeface="Arial"/>
                <a:cs typeface="Arial"/>
                <a:sym typeface="Arial"/>
              </a:rPr>
              <a:t>Develop a </a:t>
            </a:r>
            <a:r>
              <a:rPr b="1" lang="en-US" sz="2100">
                <a:latin typeface="Arial"/>
                <a:ea typeface="Arial"/>
                <a:cs typeface="Arial"/>
                <a:sym typeface="Arial"/>
              </a:rPr>
              <a:t>user-friendly interface or API</a:t>
            </a:r>
            <a:r>
              <a:rPr lang="en-US" sz="2100">
                <a:latin typeface="Arial"/>
                <a:ea typeface="Arial"/>
                <a:cs typeface="Arial"/>
                <a:sym typeface="Arial"/>
              </a:rPr>
              <a:t> for interaction.</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Ensure </a:t>
            </a:r>
            <a:r>
              <a:rPr b="1" lang="en-US" sz="2100">
                <a:latin typeface="Arial"/>
                <a:ea typeface="Arial"/>
                <a:cs typeface="Arial"/>
                <a:sym typeface="Arial"/>
              </a:rPr>
              <a:t>real-time response generation</a:t>
            </a:r>
            <a:r>
              <a:rPr lang="en-US" sz="2100">
                <a:latin typeface="Arial"/>
                <a:ea typeface="Arial"/>
                <a:cs typeface="Arial"/>
                <a:sym typeface="Arial"/>
              </a:rPr>
              <a:t> for practical use.</a:t>
            </a:r>
            <a:endParaRPr sz="2100">
              <a:latin typeface="Arial"/>
              <a:ea typeface="Arial"/>
              <a:cs typeface="Arial"/>
              <a:sym typeface="Arial"/>
            </a:endParaRPr>
          </a:p>
          <a:p>
            <a:pPr indent="-361950" lvl="0" marL="457200" rtl="0" algn="l">
              <a:lnSpc>
                <a:spcPct val="115000"/>
              </a:lnSpc>
              <a:spcBef>
                <a:spcPts val="0"/>
              </a:spcBef>
              <a:spcAft>
                <a:spcPts val="0"/>
              </a:spcAft>
              <a:buSzPts val="2100"/>
              <a:buChar char="●"/>
            </a:pPr>
            <a:r>
              <a:rPr lang="en-US" sz="2100">
                <a:latin typeface="Arial"/>
                <a:ea typeface="Arial"/>
                <a:cs typeface="Arial"/>
                <a:sym typeface="Arial"/>
              </a:rPr>
              <a:t>Set up </a:t>
            </a:r>
            <a:r>
              <a:rPr b="1" lang="en-US" sz="2100">
                <a:latin typeface="Arial"/>
                <a:ea typeface="Arial"/>
                <a:cs typeface="Arial"/>
                <a:sym typeface="Arial"/>
              </a:rPr>
              <a:t>performance monitoring</a:t>
            </a:r>
            <a:r>
              <a:rPr lang="en-US" sz="2100">
                <a:latin typeface="Arial"/>
                <a:ea typeface="Arial"/>
                <a:cs typeface="Arial"/>
                <a:sym typeface="Arial"/>
              </a:rPr>
              <a:t> to track accuracy and update the model when necessary.</a:t>
            </a:r>
            <a:endParaRPr sz="2100">
              <a:latin typeface="Arial"/>
              <a:ea typeface="Arial"/>
              <a:cs typeface="Arial"/>
              <a:sym typeface="Arial"/>
            </a:endParaRPr>
          </a:p>
          <a:p>
            <a:pPr indent="0" lvl="0" marL="0" rtl="0" algn="l">
              <a:lnSpc>
                <a:spcPct val="90000"/>
              </a:lnSpc>
              <a:spcBef>
                <a:spcPts val="1200"/>
              </a:spcBef>
              <a:spcAft>
                <a:spcPts val="0"/>
              </a:spcAft>
              <a:buNone/>
            </a:pPr>
            <a:r>
              <a:t/>
            </a:r>
            <a:endParaRPr b="1" sz="19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Hardware and Software Requirements</a:t>
            </a:r>
            <a:endParaRPr/>
          </a:p>
        </p:txBody>
      </p:sp>
      <p:sp>
        <p:nvSpPr>
          <p:cNvPr id="276" name="Google Shape;276;p34"/>
          <p:cNvSpPr txBox="1"/>
          <p:nvPr>
            <p:ph idx="1" type="body"/>
          </p:nvPr>
        </p:nvSpPr>
        <p:spPr>
          <a:xfrm>
            <a:off x="679039" y="1591913"/>
            <a:ext cx="5157900" cy="82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800">
                <a:latin typeface="Palatino Linotype"/>
                <a:ea typeface="Palatino Linotype"/>
                <a:cs typeface="Palatino Linotype"/>
                <a:sym typeface="Palatino Linotype"/>
              </a:rPr>
              <a:t>Hardware Requirements</a:t>
            </a:r>
            <a:endParaRPr/>
          </a:p>
        </p:txBody>
      </p:sp>
      <p:sp>
        <p:nvSpPr>
          <p:cNvPr id="277" name="Google Shape;277;p34"/>
          <p:cNvSpPr txBox="1"/>
          <p:nvPr>
            <p:ph idx="2" type="body"/>
          </p:nvPr>
        </p:nvSpPr>
        <p:spPr>
          <a:xfrm>
            <a:off x="554039" y="2505075"/>
            <a:ext cx="5157900" cy="3684600"/>
          </a:xfrm>
          <a:prstGeom prst="rect">
            <a:avLst/>
          </a:prstGeom>
          <a:noFill/>
          <a:ln>
            <a:noFill/>
          </a:ln>
        </p:spPr>
        <p:txBody>
          <a:bodyPr anchorCtr="0" anchor="t" bIns="45700" lIns="91425" spcFirstLastPara="1" rIns="91425" wrap="square" tIns="45700">
            <a:noAutofit/>
          </a:bodyPr>
          <a:lstStyle/>
          <a:p>
            <a:pPr indent="-330193" lvl="0" marL="228593" rtl="0" algn="l">
              <a:lnSpc>
                <a:spcPct val="100000"/>
              </a:lnSpc>
              <a:spcBef>
                <a:spcPts val="0"/>
              </a:spcBef>
              <a:spcAft>
                <a:spcPts val="0"/>
              </a:spcAft>
              <a:buSzPts val="3400"/>
              <a:buChar char="•"/>
            </a:pPr>
            <a:r>
              <a:rPr b="1" lang="en-US" sz="2100">
                <a:latin typeface="Arial"/>
                <a:ea typeface="Arial"/>
                <a:cs typeface="Arial"/>
                <a:sym typeface="Arial"/>
              </a:rPr>
              <a:t>CPU</a:t>
            </a:r>
            <a:r>
              <a:rPr lang="en-US" sz="2100">
                <a:latin typeface="Arial"/>
                <a:ea typeface="Arial"/>
                <a:cs typeface="Arial"/>
                <a:sym typeface="Arial"/>
              </a:rPr>
              <a:t>: 8-core (Intel i7/Ryzen 7 or higher)</a:t>
            </a:r>
            <a:endParaRPr sz="2100">
              <a:latin typeface="Arial"/>
              <a:ea typeface="Arial"/>
              <a:cs typeface="Arial"/>
              <a:sym typeface="Arial"/>
            </a:endParaRPr>
          </a:p>
          <a:p>
            <a:pPr indent="-330193" lvl="0" marL="228593" rtl="0" algn="l">
              <a:lnSpc>
                <a:spcPct val="100000"/>
              </a:lnSpc>
              <a:spcBef>
                <a:spcPts val="0"/>
              </a:spcBef>
              <a:spcAft>
                <a:spcPts val="0"/>
              </a:spcAft>
              <a:buSzPts val="3400"/>
              <a:buChar char="•"/>
            </a:pPr>
            <a:r>
              <a:rPr b="1" lang="en-US" sz="2100">
                <a:latin typeface="Arial"/>
                <a:ea typeface="Arial"/>
                <a:cs typeface="Arial"/>
                <a:sym typeface="Arial"/>
              </a:rPr>
              <a:t>GPU</a:t>
            </a:r>
            <a:r>
              <a:rPr lang="en-US" sz="2100">
                <a:latin typeface="Arial"/>
                <a:ea typeface="Arial"/>
                <a:cs typeface="Arial"/>
                <a:sym typeface="Arial"/>
              </a:rPr>
              <a:t>: NVIDIA RTX 3060 (12GB VRAM) or better</a:t>
            </a:r>
            <a:endParaRPr sz="2100">
              <a:latin typeface="Arial"/>
              <a:ea typeface="Arial"/>
              <a:cs typeface="Arial"/>
              <a:sym typeface="Arial"/>
            </a:endParaRPr>
          </a:p>
          <a:p>
            <a:pPr indent="-330193" lvl="0" marL="228593" rtl="0" algn="l">
              <a:lnSpc>
                <a:spcPct val="100000"/>
              </a:lnSpc>
              <a:spcBef>
                <a:spcPts val="0"/>
              </a:spcBef>
              <a:spcAft>
                <a:spcPts val="0"/>
              </a:spcAft>
              <a:buSzPts val="3400"/>
              <a:buChar char="•"/>
            </a:pPr>
            <a:r>
              <a:rPr b="1" lang="en-US" sz="2100">
                <a:latin typeface="Arial"/>
                <a:ea typeface="Arial"/>
                <a:cs typeface="Arial"/>
                <a:sym typeface="Arial"/>
              </a:rPr>
              <a:t>RAM</a:t>
            </a:r>
            <a:r>
              <a:rPr lang="en-US" sz="2100">
                <a:latin typeface="Arial"/>
                <a:ea typeface="Arial"/>
                <a:cs typeface="Arial"/>
                <a:sym typeface="Arial"/>
              </a:rPr>
              <a:t>: 16GB (Recommended: 32GB)</a:t>
            </a:r>
            <a:endParaRPr sz="2100">
              <a:latin typeface="Arial"/>
              <a:ea typeface="Arial"/>
              <a:cs typeface="Arial"/>
              <a:sym typeface="Arial"/>
            </a:endParaRPr>
          </a:p>
          <a:p>
            <a:pPr indent="-330193" lvl="0" marL="228593" rtl="0" algn="l">
              <a:lnSpc>
                <a:spcPct val="100000"/>
              </a:lnSpc>
              <a:spcBef>
                <a:spcPts val="0"/>
              </a:spcBef>
              <a:spcAft>
                <a:spcPts val="0"/>
              </a:spcAft>
              <a:buSzPts val="3400"/>
              <a:buChar char="•"/>
            </a:pPr>
            <a:r>
              <a:rPr b="1" lang="en-US" sz="2100">
                <a:latin typeface="Arial"/>
                <a:ea typeface="Arial"/>
                <a:cs typeface="Arial"/>
                <a:sym typeface="Arial"/>
              </a:rPr>
              <a:t>Storage</a:t>
            </a:r>
            <a:r>
              <a:rPr lang="en-US" sz="2100">
                <a:latin typeface="Arial"/>
                <a:ea typeface="Arial"/>
                <a:cs typeface="Arial"/>
                <a:sym typeface="Arial"/>
              </a:rPr>
              <a:t>: 500GB SSD (Recommended: 1TB SSD)</a:t>
            </a:r>
            <a:endParaRPr sz="2100">
              <a:latin typeface="Arial"/>
              <a:ea typeface="Arial"/>
              <a:cs typeface="Arial"/>
              <a:sym typeface="Arial"/>
            </a:endParaRPr>
          </a:p>
          <a:p>
            <a:pPr indent="-330193" lvl="0" marL="228593" rtl="0" algn="l">
              <a:lnSpc>
                <a:spcPct val="100000"/>
              </a:lnSpc>
              <a:spcBef>
                <a:spcPts val="0"/>
              </a:spcBef>
              <a:spcAft>
                <a:spcPts val="0"/>
              </a:spcAft>
              <a:buSzPts val="3400"/>
              <a:buChar char="•"/>
            </a:pPr>
            <a:r>
              <a:rPr b="1" lang="en-US" sz="2100">
                <a:latin typeface="Arial"/>
                <a:ea typeface="Arial"/>
                <a:cs typeface="Arial"/>
                <a:sym typeface="Arial"/>
              </a:rPr>
              <a:t>Internet</a:t>
            </a:r>
            <a:r>
              <a:rPr lang="en-US" sz="2100">
                <a:latin typeface="Arial"/>
                <a:ea typeface="Arial"/>
                <a:cs typeface="Arial"/>
                <a:sym typeface="Arial"/>
              </a:rPr>
              <a:t>: High-speed connection for external data retrieval</a:t>
            </a:r>
            <a:endParaRPr sz="2100">
              <a:latin typeface="Arial"/>
              <a:ea typeface="Arial"/>
              <a:cs typeface="Arial"/>
              <a:sym typeface="Arial"/>
            </a:endParaRPr>
          </a:p>
          <a:p>
            <a:pPr indent="0" lvl="0" marL="0" rtl="0" algn="l">
              <a:lnSpc>
                <a:spcPct val="90000"/>
              </a:lnSpc>
              <a:spcBef>
                <a:spcPts val="1000"/>
              </a:spcBef>
              <a:spcAft>
                <a:spcPts val="0"/>
              </a:spcAft>
              <a:buNone/>
            </a:pPr>
            <a:r>
              <a:t/>
            </a:r>
            <a:endParaRPr sz="2400">
              <a:latin typeface="Palatino Linotype"/>
              <a:ea typeface="Palatino Linotype"/>
              <a:cs typeface="Palatino Linotype"/>
              <a:sym typeface="Palatino Linotype"/>
            </a:endParaRPr>
          </a:p>
        </p:txBody>
      </p:sp>
      <p:sp>
        <p:nvSpPr>
          <p:cNvPr id="278" name="Google Shape;278;p34"/>
          <p:cNvSpPr txBox="1"/>
          <p:nvPr>
            <p:ph idx="3" type="body"/>
          </p:nvPr>
        </p:nvSpPr>
        <p:spPr>
          <a:xfrm>
            <a:off x="6172203" y="1514488"/>
            <a:ext cx="5183100" cy="82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800">
                <a:latin typeface="Palatino Linotype"/>
                <a:ea typeface="Palatino Linotype"/>
                <a:cs typeface="Palatino Linotype"/>
                <a:sym typeface="Palatino Linotype"/>
              </a:rPr>
              <a:t>Software Requirements</a:t>
            </a:r>
            <a:endParaRPr/>
          </a:p>
        </p:txBody>
      </p:sp>
      <p:sp>
        <p:nvSpPr>
          <p:cNvPr id="279" name="Google Shape;279;p34"/>
          <p:cNvSpPr txBox="1"/>
          <p:nvPr>
            <p:ph idx="4" type="body"/>
          </p:nvPr>
        </p:nvSpPr>
        <p:spPr>
          <a:xfrm>
            <a:off x="6172203" y="2505075"/>
            <a:ext cx="5183188" cy="3684588"/>
          </a:xfrm>
          <a:prstGeom prst="rect">
            <a:avLst/>
          </a:prstGeom>
          <a:noFill/>
          <a:ln>
            <a:noFill/>
          </a:ln>
        </p:spPr>
        <p:txBody>
          <a:bodyPr anchorCtr="0" anchor="t" bIns="45700" lIns="91425" spcFirstLastPara="1" rIns="91425" wrap="square" tIns="45700">
            <a:noAutofit/>
          </a:bodyPr>
          <a:lstStyle/>
          <a:p>
            <a:pPr indent="-336543" lvl="0" marL="228593" rtl="0" algn="l">
              <a:spcBef>
                <a:spcPts val="1000"/>
              </a:spcBef>
              <a:spcAft>
                <a:spcPts val="0"/>
              </a:spcAft>
              <a:buSzPts val="3500"/>
              <a:buChar char="•"/>
            </a:pPr>
            <a:r>
              <a:rPr b="1" lang="en-US" sz="2200">
                <a:latin typeface="Arial"/>
                <a:ea typeface="Arial"/>
                <a:cs typeface="Arial"/>
                <a:sym typeface="Arial"/>
              </a:rPr>
              <a:t>OS</a:t>
            </a:r>
            <a:r>
              <a:rPr lang="en-US" sz="2200">
                <a:latin typeface="Arial"/>
                <a:ea typeface="Arial"/>
                <a:cs typeface="Arial"/>
                <a:sym typeface="Arial"/>
              </a:rPr>
              <a:t>: Windows 10/11 or Ubuntu 20.04+</a:t>
            </a:r>
            <a:endParaRPr sz="2200">
              <a:latin typeface="Arial"/>
              <a:ea typeface="Arial"/>
              <a:cs typeface="Arial"/>
              <a:sym typeface="Arial"/>
            </a:endParaRPr>
          </a:p>
          <a:p>
            <a:pPr indent="-336543" lvl="0" marL="228593" rtl="0" algn="l">
              <a:spcBef>
                <a:spcPts val="1000"/>
              </a:spcBef>
              <a:spcAft>
                <a:spcPts val="0"/>
              </a:spcAft>
              <a:buSzPts val="3500"/>
              <a:buChar char="•"/>
            </a:pPr>
            <a:r>
              <a:rPr b="1" lang="en-US" sz="2200">
                <a:latin typeface="Arial"/>
                <a:ea typeface="Arial"/>
                <a:cs typeface="Arial"/>
                <a:sym typeface="Arial"/>
              </a:rPr>
              <a:t>Programming</a:t>
            </a:r>
            <a:r>
              <a:rPr lang="en-US" sz="2200">
                <a:latin typeface="Arial"/>
                <a:ea typeface="Arial"/>
                <a:cs typeface="Arial"/>
                <a:sym typeface="Arial"/>
              </a:rPr>
              <a:t>: Python 3.8+</a:t>
            </a:r>
            <a:endParaRPr sz="2200">
              <a:latin typeface="Arial"/>
              <a:ea typeface="Arial"/>
              <a:cs typeface="Arial"/>
              <a:sym typeface="Arial"/>
            </a:endParaRPr>
          </a:p>
          <a:p>
            <a:pPr indent="-336543" lvl="0" marL="228593" rtl="0" algn="l">
              <a:spcBef>
                <a:spcPts val="1000"/>
              </a:spcBef>
              <a:spcAft>
                <a:spcPts val="0"/>
              </a:spcAft>
              <a:buSzPts val="3500"/>
              <a:buChar char="•"/>
            </a:pPr>
            <a:r>
              <a:rPr b="1" lang="en-US" sz="2200">
                <a:latin typeface="Arial"/>
                <a:ea typeface="Arial"/>
                <a:cs typeface="Arial"/>
                <a:sym typeface="Arial"/>
              </a:rPr>
              <a:t>Libraries</a:t>
            </a:r>
            <a:r>
              <a:rPr lang="en-US" sz="2200">
                <a:latin typeface="Arial"/>
                <a:ea typeface="Arial"/>
                <a:cs typeface="Arial"/>
                <a:sym typeface="Arial"/>
              </a:rPr>
              <a:t>: PyTorch/TensorFlow, Hugging Face Transformers</a:t>
            </a:r>
            <a:endParaRPr sz="2200">
              <a:latin typeface="Arial"/>
              <a:ea typeface="Arial"/>
              <a:cs typeface="Arial"/>
              <a:sym typeface="Arial"/>
            </a:endParaRPr>
          </a:p>
          <a:p>
            <a:pPr indent="-336543" lvl="0" marL="228593" rtl="0" algn="l">
              <a:spcBef>
                <a:spcPts val="1000"/>
              </a:spcBef>
              <a:spcAft>
                <a:spcPts val="0"/>
              </a:spcAft>
              <a:buSzPts val="3500"/>
              <a:buChar char="•"/>
            </a:pPr>
            <a:r>
              <a:rPr b="1" lang="en-US" sz="2200">
                <a:latin typeface="Arial"/>
                <a:ea typeface="Arial"/>
                <a:cs typeface="Arial"/>
                <a:sym typeface="Arial"/>
              </a:rPr>
              <a:t>Retrieval System</a:t>
            </a:r>
            <a:r>
              <a:rPr lang="en-US" sz="2200">
                <a:latin typeface="Arial"/>
                <a:ea typeface="Arial"/>
                <a:cs typeface="Arial"/>
                <a:sym typeface="Arial"/>
              </a:rPr>
              <a:t>: FAISS/Pinecone</a:t>
            </a:r>
            <a:endParaRPr sz="2200">
              <a:latin typeface="Arial"/>
              <a:ea typeface="Arial"/>
              <a:cs typeface="Arial"/>
              <a:sym typeface="Arial"/>
            </a:endParaRPr>
          </a:p>
          <a:p>
            <a:pPr indent="-336543" lvl="0" marL="228593" rtl="0" algn="l">
              <a:spcBef>
                <a:spcPts val="1000"/>
              </a:spcBef>
              <a:spcAft>
                <a:spcPts val="0"/>
              </a:spcAft>
              <a:buSzPts val="3500"/>
              <a:buChar char="•"/>
            </a:pPr>
            <a:r>
              <a:rPr b="1" lang="en-US" sz="2200">
                <a:latin typeface="Arial"/>
                <a:ea typeface="Arial"/>
                <a:cs typeface="Arial"/>
                <a:sym typeface="Arial"/>
              </a:rPr>
              <a:t>Tools</a:t>
            </a:r>
            <a:r>
              <a:rPr lang="en-US" sz="2200">
                <a:latin typeface="Arial"/>
                <a:ea typeface="Arial"/>
                <a:cs typeface="Arial"/>
                <a:sym typeface="Arial"/>
              </a:rPr>
              <a:t>: Jupyter Notebook, VS Code, CUDA (for GPU), Docker (optional)</a:t>
            </a:r>
            <a:endParaRPr sz="2200">
              <a:latin typeface="Arial"/>
              <a:ea typeface="Arial"/>
              <a:cs typeface="Arial"/>
              <a:sym typeface="Arial"/>
            </a:endParaRPr>
          </a:p>
          <a:p>
            <a:pPr indent="0" lvl="0" marL="228593" rtl="0" algn="l">
              <a:lnSpc>
                <a:spcPct val="90000"/>
              </a:lnSpc>
              <a:spcBef>
                <a:spcPts val="1000"/>
              </a:spcBef>
              <a:spcAft>
                <a:spcPts val="0"/>
              </a:spcAft>
              <a:buNone/>
            </a:pPr>
            <a:r>
              <a:t/>
            </a:r>
            <a:endParaRPr sz="2400">
              <a:latin typeface="Palatino Linotype"/>
              <a:ea typeface="Palatino Linotype"/>
              <a:cs typeface="Palatino Linotype"/>
              <a:sym typeface="Palatino Linotype"/>
            </a:endParaRPr>
          </a:p>
        </p:txBody>
      </p:sp>
      <p:sp>
        <p:nvSpPr>
          <p:cNvPr id="280" name="Google Shape;280;p34"/>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281" name="Google Shape;281;p34"/>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82" name="Google Shape;282;p34"/>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5"/>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Possible Outcomes</a:t>
            </a:r>
            <a:endParaRPr/>
          </a:p>
        </p:txBody>
      </p:sp>
      <p:sp>
        <p:nvSpPr>
          <p:cNvPr id="288" name="Google Shape;288;p35"/>
          <p:cNvSpPr txBox="1"/>
          <p:nvPr>
            <p:ph idx="1" type="body"/>
          </p:nvPr>
        </p:nvSpPr>
        <p:spPr>
          <a:xfrm>
            <a:off x="570325" y="1593450"/>
            <a:ext cx="11217000" cy="50145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1000"/>
              </a:spcBef>
              <a:spcAft>
                <a:spcPts val="0"/>
              </a:spcAft>
              <a:buSzPts val="2100"/>
              <a:buFont typeface="Arial"/>
              <a:buAutoNum type="arabicPeriod"/>
            </a:pPr>
            <a:r>
              <a:rPr lang="en-US" sz="2100">
                <a:latin typeface="Arial"/>
                <a:ea typeface="Arial"/>
                <a:cs typeface="Arial"/>
                <a:sym typeface="Arial"/>
              </a:rPr>
              <a:t>A fine-tuned 7B model demonstrating measurable improvements over the base model on test queries.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AutoNum type="arabicPeriod"/>
            </a:pPr>
            <a:r>
              <a:rPr lang="en-US" sz="2100">
                <a:latin typeface="Arial"/>
                <a:ea typeface="Arial"/>
                <a:cs typeface="Arial"/>
                <a:sym typeface="Arial"/>
              </a:rPr>
              <a:t>A working RAG prototype that retrieves relevant information from a curated knowledge base and enhances model responses.</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AutoNum type="arabicPeriod"/>
            </a:pPr>
            <a:r>
              <a:rPr lang="en-US" sz="2100">
                <a:latin typeface="Arial"/>
                <a:ea typeface="Arial"/>
                <a:cs typeface="Arial"/>
                <a:sym typeface="Arial"/>
              </a:rPr>
              <a:t>Empirical comparison of the base model, fine-tuned model, and RAG-enhanced model based on accuracy, relevance, and hallucination rate.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AutoNum type="arabicPeriod"/>
            </a:pPr>
            <a:r>
              <a:rPr lang="en-US" sz="2100">
                <a:latin typeface="Arial"/>
                <a:ea typeface="Arial"/>
                <a:cs typeface="Arial"/>
                <a:sym typeface="Arial"/>
              </a:rPr>
              <a:t>Documentation of technical challenges faced and the solutions implemented during the project.</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AutoNum type="arabicPeriod"/>
            </a:pPr>
            <a:r>
              <a:rPr lang="en-US" sz="2100">
                <a:latin typeface="Arial"/>
                <a:ea typeface="Arial"/>
                <a:cs typeface="Arial"/>
                <a:sym typeface="Arial"/>
              </a:rPr>
              <a:t>A live demonstration showcasing example queries where the enhanced model outperforms the baseline.</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AutoNum type="arabicPeriod"/>
            </a:pPr>
            <a:r>
              <a:rPr lang="en-US" sz="2100">
                <a:latin typeface="Arial"/>
                <a:ea typeface="Arial"/>
                <a:cs typeface="Arial"/>
                <a:sym typeface="Arial"/>
              </a:rPr>
              <a:t>A detailed project report and presentation covering methodology, implementation, results, and future scope.</a:t>
            </a:r>
            <a:endParaRPr sz="2100">
              <a:latin typeface="Arial"/>
              <a:ea typeface="Arial"/>
              <a:cs typeface="Arial"/>
              <a:sym typeface="Arial"/>
            </a:endParaRPr>
          </a:p>
          <a:p>
            <a:pPr indent="0" lvl="0" marL="228593" rtl="0" algn="l">
              <a:lnSpc>
                <a:spcPct val="115000"/>
              </a:lnSpc>
              <a:spcBef>
                <a:spcPts val="1000"/>
              </a:spcBef>
              <a:spcAft>
                <a:spcPts val="0"/>
              </a:spcAft>
              <a:buNone/>
            </a:pPr>
            <a:r>
              <a:t/>
            </a:r>
            <a:endParaRPr sz="1800">
              <a:latin typeface="Palatino Linotype"/>
              <a:ea typeface="Palatino Linotype"/>
              <a:cs typeface="Palatino Linotype"/>
              <a:sym typeface="Palatino Linotype"/>
            </a:endParaRPr>
          </a:p>
        </p:txBody>
      </p:sp>
      <p:sp>
        <p:nvSpPr>
          <p:cNvPr id="289" name="Google Shape;289;p35"/>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3/11/2025</a:t>
            </a:r>
            <a:endParaRPr>
              <a:latin typeface="Palatino Linotype"/>
              <a:ea typeface="Palatino Linotype"/>
              <a:cs typeface="Palatino Linotype"/>
              <a:sym typeface="Palatino Linotype"/>
            </a:endParaRPr>
          </a:p>
        </p:txBody>
      </p:sp>
      <p:sp>
        <p:nvSpPr>
          <p:cNvPr id="290" name="Google Shape;290;p35"/>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291" name="Google Shape;291;p35"/>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References</a:t>
            </a:r>
            <a:endParaRPr/>
          </a:p>
        </p:txBody>
      </p:sp>
      <p:sp>
        <p:nvSpPr>
          <p:cNvPr id="297" name="Google Shape;297;p3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92500" lnSpcReduction="20000"/>
          </a:bodyPr>
          <a:lstStyle/>
          <a:p>
            <a:pPr indent="-514350" lvl="0" marL="514350" rtl="0" algn="l">
              <a:lnSpc>
                <a:spcPct val="90000"/>
              </a:lnSpc>
              <a:spcBef>
                <a:spcPts val="0"/>
              </a:spcBef>
              <a:spcAft>
                <a:spcPts val="0"/>
              </a:spcAft>
              <a:buClr>
                <a:schemeClr val="dk1"/>
              </a:buClr>
              <a:buSzPct val="100000"/>
              <a:buFont typeface="Calibri"/>
              <a:buAutoNum type="arabicPeriod"/>
            </a:pPr>
            <a:r>
              <a:rPr lang="en-US">
                <a:latin typeface="Palatino Linotype"/>
                <a:ea typeface="Palatino Linotype"/>
                <a:cs typeface="Palatino Linotype"/>
                <a:sym typeface="Palatino Linotype"/>
              </a:rPr>
              <a:t>Machine Learning Convergence for Weather Based Crop Selection - Sonal Jain, Dharavath Ramesh</a:t>
            </a:r>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latin typeface="Palatino Linotype"/>
                <a:ea typeface="Palatino Linotype"/>
                <a:cs typeface="Palatino Linotype"/>
                <a:sym typeface="Palatino Linotype"/>
              </a:rPr>
              <a:t>Intelligent Crop Recommendation System using Machine Learning - Priyadharshini A, Aayush Kumar, Swapneel Chakraborty, Omen Rajendra Pooniwala</a:t>
            </a:r>
            <a:endParaRPr>
              <a:latin typeface="Palatino Linotype"/>
              <a:ea typeface="Palatino Linotype"/>
              <a:cs typeface="Palatino Linotype"/>
              <a:sym typeface="Palatino Linotype"/>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latin typeface="Palatino Linotype"/>
                <a:ea typeface="Palatino Linotype"/>
                <a:cs typeface="Palatino Linotype"/>
                <a:sym typeface="Palatino Linotype"/>
              </a:rPr>
              <a:t>Agricultural Crop Recommendations based on Productivity and Season - Vaishnavi.S, Shobana.M, Sabitha.R, Karthik.S</a:t>
            </a:r>
            <a:endParaRPr>
              <a:latin typeface="Palatino Linotype"/>
              <a:ea typeface="Palatino Linotype"/>
              <a:cs typeface="Palatino Linotype"/>
              <a:sym typeface="Palatino Linotype"/>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latin typeface="Palatino Linotype"/>
                <a:ea typeface="Palatino Linotype"/>
                <a:cs typeface="Palatino Linotype"/>
                <a:sym typeface="Palatino Linotype"/>
              </a:rPr>
              <a:t>Crop Recommendation System for Precision Agriculture - S.Pudumalar, E.Ramanujam, R.Harine Rajashree, C.Kavya, T.Kiruthika, J.Nisha</a:t>
            </a:r>
            <a:endParaRPr>
              <a:latin typeface="Palatino Linotype"/>
              <a:ea typeface="Palatino Linotype"/>
              <a:cs typeface="Palatino Linotype"/>
              <a:sym typeface="Palatino Linotype"/>
            </a:endParaRPr>
          </a:p>
          <a:p>
            <a:pPr indent="-514350" lvl="0" marL="514350" rtl="0" algn="l">
              <a:lnSpc>
                <a:spcPct val="90000"/>
              </a:lnSpc>
              <a:spcBef>
                <a:spcPts val="1000"/>
              </a:spcBef>
              <a:spcAft>
                <a:spcPts val="0"/>
              </a:spcAft>
              <a:buClr>
                <a:schemeClr val="dk1"/>
              </a:buClr>
              <a:buSzPct val="100000"/>
              <a:buFont typeface="Calibri"/>
              <a:buAutoNum type="arabicPeriod"/>
            </a:pPr>
            <a:r>
              <a:rPr lang="en-US">
                <a:latin typeface="Palatino Linotype"/>
                <a:ea typeface="Palatino Linotype"/>
                <a:cs typeface="Palatino Linotype"/>
                <a:sym typeface="Palatino Linotype"/>
              </a:rPr>
              <a:t>Fuzzy Decision Support System for Recommendation of Crop Cultivation based on Soil Type - A.M.Rajeswari, A.Selva Anushiya, K.Seyad Ali Fathima, S.Shanmuga Priya, N. Mathumithaa</a:t>
            </a:r>
            <a:endParaRPr>
              <a:latin typeface="Palatino Linotype"/>
              <a:ea typeface="Palatino Linotype"/>
              <a:cs typeface="Palatino Linotype"/>
              <a:sym typeface="Palatino Linotype"/>
            </a:endParaRPr>
          </a:p>
        </p:txBody>
      </p:sp>
      <p:sp>
        <p:nvSpPr>
          <p:cNvPr id="298" name="Google Shape;298;p36"/>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299" name="Google Shape;299;p36"/>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300" name="Google Shape;300;p36"/>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7"/>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References</a:t>
            </a:r>
            <a:endParaRPr/>
          </a:p>
        </p:txBody>
      </p:sp>
      <p:sp>
        <p:nvSpPr>
          <p:cNvPr id="306" name="Google Shape;306;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514350" lvl="0" marL="514350" rtl="0" algn="just">
              <a:lnSpc>
                <a:spcPct val="90000"/>
              </a:lnSpc>
              <a:spcBef>
                <a:spcPts val="0"/>
              </a:spcBef>
              <a:spcAft>
                <a:spcPts val="0"/>
              </a:spcAft>
              <a:buClr>
                <a:schemeClr val="dk1"/>
              </a:buClr>
              <a:buSzPct val="100000"/>
              <a:buFont typeface="Calibri"/>
              <a:buAutoNum type="arabicPeriod" startAt="6"/>
            </a:pPr>
            <a:r>
              <a:rPr lang="en-US">
                <a:latin typeface="Palatino Linotype"/>
                <a:ea typeface="Palatino Linotype"/>
                <a:cs typeface="Palatino Linotype"/>
                <a:sym typeface="Palatino Linotype"/>
              </a:rPr>
              <a:t>An efficient algorithm for predicting crop using historical data and pattern matching technique - Anjana, Aishwarya Kedlaya K, Aysha Sana, B Apoorva Bhat, Sharath Kumar, Nagaraj Bhat</a:t>
            </a:r>
            <a:endParaRPr/>
          </a:p>
          <a:p>
            <a:pPr indent="-514350" lvl="0" marL="514350" rtl="0" algn="just">
              <a:lnSpc>
                <a:spcPct val="90000"/>
              </a:lnSpc>
              <a:spcBef>
                <a:spcPts val="1000"/>
              </a:spcBef>
              <a:spcAft>
                <a:spcPts val="0"/>
              </a:spcAft>
              <a:buClr>
                <a:schemeClr val="dk1"/>
              </a:buClr>
              <a:buSzPct val="100000"/>
              <a:buFont typeface="Calibri"/>
              <a:buAutoNum type="arabicPeriod" startAt="6"/>
            </a:pPr>
            <a:r>
              <a:rPr lang="en-US">
                <a:latin typeface="Palatino Linotype"/>
                <a:ea typeface="Palatino Linotype"/>
                <a:cs typeface="Palatino Linotype"/>
                <a:sym typeface="Palatino Linotype"/>
              </a:rPr>
              <a:t>Applying Data Mining Techniques to Predict Annual Yield of Major Crops and Recommend Planting Different Crops in Different Districts in Bangladesh - A.T.M Shakil Ahamed, Navid Tanzeem Mahmood, Nazmul Hossain, Mohammad Tanzir Kabir, Kallal Das, Faridur Rahman, Rashedur M Rahman</a:t>
            </a:r>
            <a:endParaRPr/>
          </a:p>
          <a:p>
            <a:pPr indent="-514350" lvl="0" marL="514350" rtl="0" algn="just">
              <a:lnSpc>
                <a:spcPct val="90000"/>
              </a:lnSpc>
              <a:spcBef>
                <a:spcPts val="1000"/>
              </a:spcBef>
              <a:spcAft>
                <a:spcPts val="0"/>
              </a:spcAft>
              <a:buClr>
                <a:schemeClr val="dk1"/>
              </a:buClr>
              <a:buSzPct val="100000"/>
              <a:buFont typeface="Calibri"/>
              <a:buAutoNum type="arabicPeriod" startAt="6"/>
            </a:pPr>
            <a:r>
              <a:rPr lang="en-US">
                <a:latin typeface="Palatino Linotype"/>
                <a:ea typeface="Palatino Linotype"/>
                <a:cs typeface="Palatino Linotype"/>
                <a:sym typeface="Palatino Linotype"/>
              </a:rPr>
              <a:t>Crop Selection Method to Maximize Crop Yield Rate using Machine Learning Technique - Rakesh Kumar, M.P. Singh, Prabhat Kumar and J.P. Singh</a:t>
            </a:r>
            <a:endParaRPr/>
          </a:p>
          <a:p>
            <a:pPr indent="-514350" lvl="0" marL="514350" rtl="0" algn="just">
              <a:lnSpc>
                <a:spcPct val="90000"/>
              </a:lnSpc>
              <a:spcBef>
                <a:spcPts val="1000"/>
              </a:spcBef>
              <a:spcAft>
                <a:spcPts val="0"/>
              </a:spcAft>
              <a:buClr>
                <a:schemeClr val="dk1"/>
              </a:buClr>
              <a:buSzPct val="100000"/>
              <a:buFont typeface="Calibri"/>
              <a:buAutoNum type="arabicPeriod" startAt="6"/>
            </a:pPr>
            <a:r>
              <a:rPr lang="en-US">
                <a:latin typeface="Palatino Linotype"/>
                <a:ea typeface="Palatino Linotype"/>
                <a:cs typeface="Palatino Linotype"/>
                <a:sym typeface="Palatino Linotype"/>
              </a:rPr>
              <a:t>Supervised Machine learning Approach for Crop Yield Prediction in Agriculture Sector - Dr. Y. Jeevan Nagendra Kumar, Gokaraju Rangaraju, V. Spandana, V.S. Vaishnavi, K. Neha, V.G.R.R. Devi</a:t>
            </a:r>
            <a:endParaRPr/>
          </a:p>
          <a:p>
            <a:pPr indent="-514350" lvl="0" marL="514350" rtl="0" algn="just">
              <a:lnSpc>
                <a:spcPct val="90000"/>
              </a:lnSpc>
              <a:spcBef>
                <a:spcPts val="1000"/>
              </a:spcBef>
              <a:spcAft>
                <a:spcPts val="0"/>
              </a:spcAft>
              <a:buClr>
                <a:schemeClr val="dk1"/>
              </a:buClr>
              <a:buSzPct val="100000"/>
              <a:buFont typeface="Calibri"/>
              <a:buAutoNum type="arabicPeriod" startAt="6"/>
            </a:pPr>
            <a:r>
              <a:rPr lang="en-US">
                <a:latin typeface="Palatino Linotype"/>
                <a:ea typeface="Palatino Linotype"/>
                <a:cs typeface="Palatino Linotype"/>
                <a:sym typeface="Palatino Linotype"/>
              </a:rPr>
              <a:t>AgroConsultant: Intelligent Crop Recommendation System Using Machine Learning Algorithms - Zeel Doshi, Rashi Agrawal, Subhash Nadkarni, Prof. Neepa Shah</a:t>
            </a:r>
            <a:endParaRPr/>
          </a:p>
        </p:txBody>
      </p:sp>
      <p:sp>
        <p:nvSpPr>
          <p:cNvPr id="307" name="Google Shape;307;p37"/>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308" name="Google Shape;308;p37"/>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309" name="Google Shape;309;p37"/>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Any Queries?</a:t>
            </a:r>
            <a:endParaRPr/>
          </a:p>
        </p:txBody>
      </p:sp>
      <p:sp>
        <p:nvSpPr>
          <p:cNvPr id="315" name="Google Shape;315;p38"/>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316" name="Google Shape;316;p38"/>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317" name="Google Shape;317;p38"/>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title"/>
          </p:nvPr>
        </p:nvSpPr>
        <p:spPr>
          <a:xfrm>
            <a:off x="838200" y="276621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alatino Linotype"/>
              <a:buNone/>
            </a:pPr>
            <a:r>
              <a:rPr b="1" lang="en-US">
                <a:latin typeface="Palatino Linotype"/>
                <a:ea typeface="Palatino Linotype"/>
                <a:cs typeface="Palatino Linotype"/>
                <a:sym typeface="Palatino Linotype"/>
              </a:rPr>
              <a:t>THANK YOU</a:t>
            </a:r>
            <a:endParaRPr/>
          </a:p>
        </p:txBody>
      </p:sp>
      <p:sp>
        <p:nvSpPr>
          <p:cNvPr id="323" name="Google Shape;323;p39"/>
          <p:cNvSpPr txBox="1"/>
          <p:nvPr>
            <p:ph idx="10" type="dt"/>
          </p:nvPr>
        </p:nvSpPr>
        <p:spPr>
          <a:xfrm>
            <a:off x="838200" y="6356356"/>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latin typeface="Palatino Linotype"/>
                <a:ea typeface="Palatino Linotype"/>
                <a:cs typeface="Palatino Linotype"/>
                <a:sym typeface="Palatino Linotype"/>
              </a:rPr>
              <a:t>3/4/2025</a:t>
            </a:r>
            <a:endParaRPr>
              <a:latin typeface="Palatino Linotype"/>
              <a:ea typeface="Palatino Linotype"/>
              <a:cs typeface="Palatino Linotype"/>
              <a:sym typeface="Palatino Linotype"/>
            </a:endParaRPr>
          </a:p>
        </p:txBody>
      </p:sp>
      <p:sp>
        <p:nvSpPr>
          <p:cNvPr id="324" name="Google Shape;324;p39"/>
          <p:cNvSpPr txBox="1"/>
          <p:nvPr>
            <p:ph idx="11" type="ftr"/>
          </p:nvPr>
        </p:nvSpPr>
        <p:spPr>
          <a:xfrm>
            <a:off x="4038600" y="6356356"/>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latin typeface="Palatino Linotype"/>
                <a:ea typeface="Palatino Linotype"/>
                <a:cs typeface="Palatino Linotype"/>
                <a:sym typeface="Palatino Linotype"/>
              </a:rPr>
              <a:t>BCS685</a:t>
            </a:r>
            <a:endParaRPr/>
          </a:p>
        </p:txBody>
      </p:sp>
      <p:sp>
        <p:nvSpPr>
          <p:cNvPr id="325" name="Google Shape;325;p39"/>
          <p:cNvSpPr txBox="1"/>
          <p:nvPr>
            <p:ph idx="12" type="sldNum"/>
          </p:nvPr>
        </p:nvSpPr>
        <p:spPr>
          <a:xfrm>
            <a:off x="8610600" y="6356356"/>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Palatino Linotype"/>
                <a:ea typeface="Palatino Linotype"/>
                <a:cs typeface="Palatino Linotype"/>
                <a:sym typeface="Palatino Linotype"/>
              </a:rPr>
              <a:t>‹#›</a:t>
            </a:fld>
            <a:endParaRPr>
              <a:latin typeface="Palatino Linotype"/>
              <a:ea typeface="Palatino Linotype"/>
              <a:cs typeface="Palatino Linotype"/>
              <a:sym typeface="Palatino Linotyp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me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